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1 — « Bonjour à tous. Nous sommes le Groupe 4, et aujourd'hui nous allons vous présenter les interactions et le prototypage avec Figma. Je m'appelle [prénom], et je suis accompagné de [prénoms des 4 autres]. »
Darija: Salam 3likom. Ahna Groupe 4, w lyom ghadi nqddmo lkom les interactions w le prototypage f Figma.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1 — « Notre présentation se divise en quatre parties. D'abord, comprendre ce qu'est un prototype. Ensuite, créer des interactions et des animations. Puis, tester et partager. Enfin, un travail pratique : un parcours complet de réservation d'hôtel. Et vous participerez à un petit quiz à la fin ! »
Darija: L presentation mqssma l 4 dyal l'ajza2. L awl nfhmo chno howa prototype, mn ba3d interactions w animations, test w partage, w f lakhr TP +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1 — « Une maquette statique, c'est une image : on voit l'écran mais on ne peut rien faire. Un prototype interactif permet de cliquer et de naviguer d'un écran à l'autre, comme dans une vraie application. Pourquoi c'est important ? On teste l'expérience utilisateur avant de développer, on corrige les erreurs très tôt, et on gagne du temps et de l'argent. »
Darija: Maquette statique = tswira. Prototype interactif = kaykhalik tكليكي w tتnقل bin les écrans. Mohim 7it kanjerrbo 9bel l développement.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2 — « Tout commence par les liens entre les Frames. Dans Figma, on passe dans l'onglet Prototype, on sélectionne un élément, par exemple un bouton, puis on tire la flèche bleue vers l'écran suivant. N'oubliez pas de définir le Flow starting point : l'écran par lequel le prototype commence. »
Darija: Kandkhlo l tab Prototype, kankhtaro bouton, kanjbdo la flèche zr9a l écran ljay, w kan7dd point de départ.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2 — « Un déclencheur, c'est ce qui lance l'interaction. On Click : quand on clique. While Hovering : quand la souris passe sur un élément. While Pressing : pendant qu'on maintient le clic. After Delay : l'action se lance automatiquement après un temps. »
Darija: On Click = klik. While Hovering = la souris fouqo. While Pressing = mnin kanب9aw dayrin clic. After Delay = automatiquement ba3d wqt.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2 — Démo dans Figma : 1) Onglet Prototype. 2) Sélectionner le bouton Rechercher, tirer la flèche vers la Frame Recherche. 3) On Click → Navigate to → Recherche. 4) Lancer Preview (▶) et cliquer. 5) Ajouter While Hovering sur la carte.
« Je passe la parole à [prénom P3] pour les transitions.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3 — « Une transition, c'est la façon dont on passe d'un écran à l'autre. Instant : changement immédiat. Dissolve : fondu en douceur. Slide : l'écran glisse, comme dans la plupart des applications mobiles. Smart Animate : Figma anime automatiquement les éléments entre deux écrans. »
Darija: Instant = f sa3a. Dissolve = fondu. Slide = glissement. Smart Animate = animation automatique.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3 — Démo : deux Frames avec le même bouton (petit gris → grand vert). Lien On Click avec Instant : changement brutal. Puis Smart Animate, Ease In and Out, 500 ms : le bouton grandit en douceur. Règle : les éléments doivent avoir le même nom dans les deux Frames.
Darija: Bach Smart Animate ykhdem, les calques khassom nفس smiya f jouj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3 — « Pour que notre prototype ressemble à une vraie application : l'Overlay, une fenêtre qui s'affiche par-dessus l'écran (popup, filtre), et le Scroll pour faire défiler une longue liste. Open Overlay sur le bouton Filtrer ; Vertical Scrolling sur la Frame. » Puis : « Je passe la parole à [prénom P4]. »
Darija: Overlay = popup fouq l écran. Scroll = nmchiw ltحt f liste.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4 — « Une fois les liens et transitions créés, on clique sur Play en haut à droite pour lancer l'aperçu. On peut choisir l'appareil, par exemple un iPhone. Ensuite, on teste le parcours complet, comme un vrai utilisateur : tous les boutons fonctionnent ? Transitions fluides ? Retour en arrière possible ? C'est en testant qu'on trouve les erreurs avant tout le monde. »
Darija: Play → aperçu, choix d'appareil, w test dyal parcours kamel.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4 — « Bouton Share, on copie le lien, et n'importe qui ouvre le prototype dans son navigateur sans installer Figma. On choisit les permissions : lecture seule ou commentaires. Les commentaires se placent directement sur l'écran, à l'endroit précis du problème. On corrige et le lien se met à jour automatiquement. » Puis : « Je passe la parole à [prénom P5] pour le TP. »
Darija: Share → lien, permissions, commentaires 3la l écran.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5 — « Notre objectif : réaliser un parcours complet de réservation d'hôtel en six écrans : accueil, recherche, résultats, détail, réservation, confirmation. Nous allons utiliser tout ce que vous avez vu : liens, déclencheurs, transitions, Overlay et Scroll. Ouvrons Figma. »
Darija: TP = parcours kamel dyal réservation f 6 dyal les écrans, b kolxi li chftom.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5 — Lancer le prototype en Preview (plein écran). 1 Accueil: saisir la ville. 2 Recherche: On Click (P2 intervient). 3 Résultats: Scroll + Overlay Filtrer. 4 Détail: Slide (P3 intervient). 5 Réservation: While Pressing. 6 Confirmation: Smart Animate (P3) puis After Delay vers l'accueil.
Darija: Kol étape kan3awdo smiyat l concept bach l jmhour y7fdo.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4 (Q1 à Q3) puis PERSONNE 5 (Q4, Q5, résultats).
Q1 Différence statique/interactif → B (le prototype permet de cliquer et naviguer).
Q2 Déclencheur automatique après un temps → D (After Delay).
Q3 Smart Animate fonctionne si… → B (mêmes noms d'éléments dans les deux Frames).
Q4 Fenêtre par-dessus l'écran → C (Overlay).
Q5 Permission pour laisser des remarques → B (Commentaire).
Avant : créer le quiz sur Kahoot ou Mentimeter, ajouter ici le QR code et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1 — « Pour conclure, retenons trois choses. Un : le prototype permet de tester avant de développer. Deux : avec les liens, les déclencheurs et les transitions, on crée une expérience fluide. Trois : le test et le partage donnent des retours rapides pour améliorer notre travail. Merci pour votre attention, nous sommes prêts à répondre à vos questions. »
Darija: Prototype = test 9bel development. Liens + déclencheurs + transitions = fluidité. Test + partage = feedback sari3.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2E"/>
        </a:solidFill>
      </p:bgPr>
    </p:bg>
    <p:spTree>
      <p:nvGrpSpPr>
        <p:cNvPr id="1" name=""/>
        <p:cNvGrpSpPr/>
        <p:nvPr/>
      </p:nvGrpSpPr>
      <p:grpSpPr>
        <a:xfrm>
          <a:off x="0" y="0"/>
          <a:ext cx="0" cy="0"/>
          <a:chOff x="0" y="0"/>
          <a:chExt cx="0" cy="0"/>
        </a:xfrm>
      </p:grpSpPr>
      <p:sp>
        <p:nvSpPr>
          <p:cNvPr id="3" name="Shape 0"/>
          <p:cNvSpPr/>
          <p:nvPr/>
        </p:nvSpPr>
        <p:spPr>
          <a:xfrm>
            <a:off x="5760720" y="822960"/>
            <a:ext cx="2194560" cy="2194560"/>
          </a:xfrm>
          <a:prstGeom prst="ellipse">
            <a:avLst/>
          </a:prstGeom>
          <a:solidFill>
            <a:srgbClr val="F24E1E"/>
          </a:solidFill>
          <a:ln/>
        </p:spPr>
      </p:sp>
      <p:sp>
        <p:nvSpPr>
          <p:cNvPr id="4" name="Shape 1"/>
          <p:cNvSpPr/>
          <p:nvPr/>
        </p:nvSpPr>
        <p:spPr>
          <a:xfrm>
            <a:off x="6675120" y="1737360"/>
            <a:ext cx="2011680" cy="2011680"/>
          </a:xfrm>
          <a:prstGeom prst="ellipse">
            <a:avLst/>
          </a:prstGeom>
          <a:solidFill>
            <a:srgbClr val="A259FF">
              <a:alpha val="85000"/>
            </a:srgbClr>
          </a:solidFill>
          <a:ln/>
        </p:spPr>
      </p:sp>
      <p:sp>
        <p:nvSpPr>
          <p:cNvPr id="5" name="Shape 2"/>
          <p:cNvSpPr/>
          <p:nvPr/>
        </p:nvSpPr>
        <p:spPr>
          <a:xfrm>
            <a:off x="5669280" y="2468880"/>
            <a:ext cx="1737360" cy="1737360"/>
          </a:xfrm>
          <a:prstGeom prst="ellipse">
            <a:avLst/>
          </a:prstGeom>
          <a:solidFill>
            <a:srgbClr val="0ACF83">
              <a:alpha val="85000"/>
            </a:srgbClr>
          </a:solidFill>
          <a:ln/>
        </p:spPr>
      </p:sp>
      <p:sp>
        <p:nvSpPr>
          <p:cNvPr id="6" name="Shape 3"/>
          <p:cNvSpPr/>
          <p:nvPr/>
        </p:nvSpPr>
        <p:spPr>
          <a:xfrm>
            <a:off x="7223760" y="457200"/>
            <a:ext cx="1280160" cy="1280160"/>
          </a:xfrm>
          <a:prstGeom prst="ellipse">
            <a:avLst/>
          </a:prstGeom>
          <a:solidFill>
            <a:srgbClr val="1ABCFE">
              <a:alpha val="85000"/>
            </a:srgbClr>
          </a:solidFill>
          <a:ln/>
        </p:spPr>
      </p:sp>
      <p:sp>
        <p:nvSpPr>
          <p:cNvPr id="7" name="Text 4"/>
          <p:cNvSpPr txBox="1"/>
          <p:nvPr/>
        </p:nvSpPr>
        <p:spPr>
          <a:xfrm>
            <a:off x="457200" y="640080"/>
            <a:ext cx="3657600" cy="274320"/>
          </a:xfrm>
          <a:prstGeom prst="rect">
            <a:avLst/>
          </a:prstGeom>
          <a:noFill/>
          <a:ln/>
        </p:spPr>
        <p:txBody>
          <a:bodyPr wrap="square" lIns="0" tIns="0" rIns="0" bIns="0" rtlCol="0" anchor="t"/>
          <a:lstStyle/>
          <a:p>
            <a:pPr indent="0" marL="0">
              <a:buNone/>
            </a:pPr>
            <a:r>
              <a:rPr lang="en-US" sz="1400" b="1" spc="400" kern="0" dirty="0">
                <a:solidFill>
                  <a:srgbClr val="0ACF83"/>
                </a:solidFill>
                <a:latin typeface="Calibri" pitchFamily="34" charset="0"/>
                <a:ea typeface="Calibri" pitchFamily="34" charset="-122"/>
                <a:cs typeface="Calibri" pitchFamily="34" charset="-120"/>
              </a:rPr>
              <a:t>GROUPE 4</a:t>
            </a:r>
            <a:endParaRPr lang="en-US" sz="1400" dirty="0"/>
          </a:p>
        </p:txBody>
      </p:sp>
      <p:sp>
        <p:nvSpPr>
          <p:cNvPr id="8" name="Text 5"/>
          <p:cNvSpPr txBox="1"/>
          <p:nvPr/>
        </p:nvSpPr>
        <p:spPr>
          <a:xfrm>
            <a:off x="457200" y="1051560"/>
            <a:ext cx="512064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Interactions et prototypage avec Figma</a:t>
            </a:r>
            <a:endParaRPr lang="en-US" sz="3800" dirty="0"/>
          </a:p>
        </p:txBody>
      </p:sp>
      <p:sp>
        <p:nvSpPr>
          <p:cNvPr id="9" name="Text 6"/>
          <p:cNvSpPr txBox="1"/>
          <p:nvPr/>
        </p:nvSpPr>
        <p:spPr>
          <a:xfrm>
            <a:off x="457200" y="2743200"/>
            <a:ext cx="5120640" cy="365760"/>
          </a:xfrm>
          <a:prstGeom prst="rect">
            <a:avLst/>
          </a:prstGeom>
          <a:noFill/>
          <a:ln/>
        </p:spPr>
        <p:txBody>
          <a:bodyPr wrap="square" lIns="0" tIns="0" rIns="0" bIns="0" rtlCol="0" anchor="t"/>
          <a:lstStyle/>
          <a:p>
            <a:pPr indent="0" marL="0">
              <a:buNone/>
            </a:pPr>
            <a:r>
              <a:rPr lang="en-US" sz="1600" dirty="0">
                <a:solidFill>
                  <a:srgbClr val="CFCBE6"/>
                </a:solidFill>
                <a:latin typeface="Calibri" pitchFamily="34" charset="0"/>
                <a:ea typeface="Calibri" pitchFamily="34" charset="-122"/>
                <a:cs typeface="Calibri" pitchFamily="34" charset="-120"/>
              </a:rPr>
              <a:t>Création des maquettes avec Figma</a:t>
            </a:r>
            <a:endParaRPr lang="en-US" sz="1600" dirty="0"/>
          </a:p>
        </p:txBody>
      </p:sp>
      <p:sp>
        <p:nvSpPr>
          <p:cNvPr id="10" name="Shape 7"/>
          <p:cNvSpPr/>
          <p:nvPr/>
        </p:nvSpPr>
        <p:spPr>
          <a:xfrm>
            <a:off x="457200" y="3931920"/>
            <a:ext cx="932688" cy="365760"/>
          </a:xfrm>
          <a:prstGeom prst="roundRect">
            <a:avLst>
              <a:gd name="adj" fmla="val 50000"/>
            </a:avLst>
          </a:prstGeom>
          <a:solidFill>
            <a:srgbClr val="2E2A45"/>
          </a:solidFill>
          <a:ln/>
        </p:spPr>
      </p:sp>
      <p:sp>
        <p:nvSpPr>
          <p:cNvPr id="11" name="Text 8"/>
          <p:cNvSpPr txBox="1"/>
          <p:nvPr/>
        </p:nvSpPr>
        <p:spPr>
          <a:xfrm>
            <a:off x="457200" y="3931920"/>
            <a:ext cx="932688"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[Prénom 1]</a:t>
            </a:r>
            <a:endParaRPr lang="en-US" sz="1100" dirty="0"/>
          </a:p>
        </p:txBody>
      </p:sp>
      <p:sp>
        <p:nvSpPr>
          <p:cNvPr id="12" name="Shape 9"/>
          <p:cNvSpPr/>
          <p:nvPr/>
        </p:nvSpPr>
        <p:spPr>
          <a:xfrm>
            <a:off x="1481328" y="3931920"/>
            <a:ext cx="932688" cy="365760"/>
          </a:xfrm>
          <a:prstGeom prst="roundRect">
            <a:avLst>
              <a:gd name="adj" fmla="val 50000"/>
            </a:avLst>
          </a:prstGeom>
          <a:solidFill>
            <a:srgbClr val="2E2A45"/>
          </a:solidFill>
          <a:ln/>
        </p:spPr>
      </p:sp>
      <p:sp>
        <p:nvSpPr>
          <p:cNvPr id="13" name="Text 10"/>
          <p:cNvSpPr txBox="1"/>
          <p:nvPr/>
        </p:nvSpPr>
        <p:spPr>
          <a:xfrm>
            <a:off x="1481328" y="3931920"/>
            <a:ext cx="932688"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[Prénom 2]</a:t>
            </a:r>
            <a:endParaRPr lang="en-US" sz="1100" dirty="0"/>
          </a:p>
        </p:txBody>
      </p:sp>
      <p:sp>
        <p:nvSpPr>
          <p:cNvPr id="14" name="Shape 11"/>
          <p:cNvSpPr/>
          <p:nvPr/>
        </p:nvSpPr>
        <p:spPr>
          <a:xfrm>
            <a:off x="2505456" y="3931920"/>
            <a:ext cx="932688" cy="365760"/>
          </a:xfrm>
          <a:prstGeom prst="roundRect">
            <a:avLst>
              <a:gd name="adj" fmla="val 50000"/>
            </a:avLst>
          </a:prstGeom>
          <a:solidFill>
            <a:srgbClr val="2E2A45"/>
          </a:solidFill>
          <a:ln/>
        </p:spPr>
      </p:sp>
      <p:sp>
        <p:nvSpPr>
          <p:cNvPr id="15" name="Text 12"/>
          <p:cNvSpPr txBox="1"/>
          <p:nvPr/>
        </p:nvSpPr>
        <p:spPr>
          <a:xfrm>
            <a:off x="2505456" y="3931920"/>
            <a:ext cx="932688"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[Prénom 3]</a:t>
            </a:r>
            <a:endParaRPr lang="en-US" sz="1100" dirty="0"/>
          </a:p>
        </p:txBody>
      </p:sp>
      <p:sp>
        <p:nvSpPr>
          <p:cNvPr id="16" name="Shape 13"/>
          <p:cNvSpPr/>
          <p:nvPr/>
        </p:nvSpPr>
        <p:spPr>
          <a:xfrm>
            <a:off x="3529584" y="3931920"/>
            <a:ext cx="932688" cy="365760"/>
          </a:xfrm>
          <a:prstGeom prst="roundRect">
            <a:avLst>
              <a:gd name="adj" fmla="val 50000"/>
            </a:avLst>
          </a:prstGeom>
          <a:solidFill>
            <a:srgbClr val="2E2A45"/>
          </a:solidFill>
          <a:ln/>
        </p:spPr>
      </p:sp>
      <p:sp>
        <p:nvSpPr>
          <p:cNvPr id="17" name="Text 14"/>
          <p:cNvSpPr txBox="1"/>
          <p:nvPr/>
        </p:nvSpPr>
        <p:spPr>
          <a:xfrm>
            <a:off x="3529584" y="3931920"/>
            <a:ext cx="932688"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[Prénom 4]</a:t>
            </a:r>
            <a:endParaRPr lang="en-US" sz="1100" dirty="0"/>
          </a:p>
        </p:txBody>
      </p:sp>
      <p:sp>
        <p:nvSpPr>
          <p:cNvPr id="18" name="Shape 15"/>
          <p:cNvSpPr/>
          <p:nvPr/>
        </p:nvSpPr>
        <p:spPr>
          <a:xfrm>
            <a:off x="4553712" y="3931920"/>
            <a:ext cx="932688" cy="365760"/>
          </a:xfrm>
          <a:prstGeom prst="roundRect">
            <a:avLst>
              <a:gd name="adj" fmla="val 50000"/>
            </a:avLst>
          </a:prstGeom>
          <a:solidFill>
            <a:srgbClr val="2E2A45"/>
          </a:solidFill>
          <a:ln/>
        </p:spPr>
      </p:sp>
      <p:sp>
        <p:nvSpPr>
          <p:cNvPr id="19" name="Text 16"/>
          <p:cNvSpPr txBox="1"/>
          <p:nvPr/>
        </p:nvSpPr>
        <p:spPr>
          <a:xfrm>
            <a:off x="4553712" y="3931920"/>
            <a:ext cx="932688"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[Prénom 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B"/>
        </a:solidFill>
      </p:bgPr>
    </p:bg>
    <p:spTree>
      <p:nvGrpSpPr>
        <p:cNvPr id="1" name=""/>
        <p:cNvGrpSpPr/>
        <p:nvPr/>
      </p:nvGrpSpPr>
      <p:grpSpPr>
        <a:xfrm>
          <a:off x="0" y="0"/>
          <a:ext cx="0" cy="0"/>
          <a:chOff x="0" y="0"/>
          <a:chExt cx="0" cy="0"/>
        </a:xfrm>
      </p:grpSpPr>
      <p:sp>
        <p:nvSpPr>
          <p:cNvPr id="2" name="Text 0"/>
          <p:cNvSpPr txBox="1"/>
          <p:nvPr/>
        </p:nvSpPr>
        <p:spPr>
          <a:xfrm>
            <a:off x="457200" y="365760"/>
            <a:ext cx="6766560" cy="731520"/>
          </a:xfrm>
          <a:prstGeom prst="rect">
            <a:avLst/>
          </a:prstGeom>
          <a:noFill/>
          <a:ln/>
        </p:spPr>
        <p:txBody>
          <a:bodyPr wrap="square" lIns="0" tIns="0" rIns="0" bIns="0" rtlCol="0" anchor="ctr"/>
          <a:lstStyle/>
          <a:p>
            <a:pPr indent="0" marL="0">
              <a:buNone/>
            </a:pPr>
            <a:r>
              <a:rPr lang="en-US" sz="3200" b="1" dirty="0">
                <a:solidFill>
                  <a:srgbClr val="1E1B2E"/>
                </a:solidFill>
                <a:latin typeface="Cambria" pitchFamily="34" charset="0"/>
                <a:ea typeface="Cambria" pitchFamily="34" charset="-122"/>
                <a:cs typeface="Cambria" pitchFamily="34" charset="-120"/>
              </a:rPr>
              <a:t>Notre plan</a:t>
            </a:r>
            <a:endParaRPr lang="en-US" sz="3200" dirty="0"/>
          </a:p>
        </p:txBody>
      </p:sp>
      <p:sp>
        <p:nvSpPr>
          <p:cNvPr id="3" name="Shape 1"/>
          <p:cNvSpPr/>
          <p:nvPr/>
        </p:nvSpPr>
        <p:spPr>
          <a:xfrm>
            <a:off x="7406640" y="228600"/>
            <a:ext cx="1280160" cy="292608"/>
          </a:xfrm>
          <a:prstGeom prst="roundRect">
            <a:avLst>
              <a:gd name="adj" fmla="val 50000"/>
            </a:avLst>
          </a:prstGeom>
          <a:solidFill>
            <a:srgbClr val="1E1B2E"/>
          </a:solidFill>
          <a:ln/>
        </p:spPr>
      </p:sp>
      <p:sp>
        <p:nvSpPr>
          <p:cNvPr id="4" name="Text 2"/>
          <p:cNvSpPr txBox="1"/>
          <p:nvPr/>
        </p:nvSpPr>
        <p:spPr>
          <a:xfrm>
            <a:off x="7406640" y="2286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 1</a:t>
            </a:r>
            <a:endParaRPr lang="en-US" sz="1100" dirty="0"/>
          </a:p>
        </p:txBody>
      </p:sp>
      <p:sp>
        <p:nvSpPr>
          <p:cNvPr id="6" name="Shape 3"/>
          <p:cNvSpPr/>
          <p:nvPr/>
        </p:nvSpPr>
        <p:spPr>
          <a:xfrm>
            <a:off x="457200" y="1463040"/>
            <a:ext cx="3840480" cy="1371600"/>
          </a:xfrm>
          <a:prstGeom prst="roundRect">
            <a:avLst>
              <a:gd name="adj" fmla="val 8000"/>
            </a:avLst>
          </a:prstGeom>
          <a:solidFill>
            <a:srgbClr val="FFFFFF"/>
          </a:solidFill>
          <a:ln/>
          <a:effectLst>
            <a:outerShdw sx="100000" sy="100000" kx="0" ky="0" algn="bl" rotWithShape="0" blurRad="101600" dist="25400" dir="5400000">
              <a:srgbClr val="000000">
                <a:alpha val="12000"/>
              </a:srgbClr>
            </a:outerShdw>
          </a:effectLst>
        </p:spPr>
      </p:sp>
      <p:sp>
        <p:nvSpPr>
          <p:cNvPr id="7" name="Shape 4"/>
          <p:cNvSpPr/>
          <p:nvPr/>
        </p:nvSpPr>
        <p:spPr>
          <a:xfrm>
            <a:off x="731520" y="1783080"/>
            <a:ext cx="731520" cy="731520"/>
          </a:xfrm>
          <a:prstGeom prst="ellipse">
            <a:avLst/>
          </a:prstGeom>
          <a:solidFill>
            <a:srgbClr val="A259FF"/>
          </a:solidFill>
          <a:ln/>
        </p:spPr>
      </p:sp>
      <p:sp>
        <p:nvSpPr>
          <p:cNvPr id="8" name="Text 5"/>
          <p:cNvSpPr txBox="1"/>
          <p:nvPr/>
        </p:nvSpPr>
        <p:spPr>
          <a:xfrm>
            <a:off x="73152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9" name="Text 6"/>
          <p:cNvSpPr txBox="1"/>
          <p:nvPr/>
        </p:nvSpPr>
        <p:spPr>
          <a:xfrm>
            <a:off x="1645920" y="1737360"/>
            <a:ext cx="2468880" cy="822960"/>
          </a:xfrm>
          <a:prstGeom prst="rect">
            <a:avLst/>
          </a:prstGeom>
          <a:noFill/>
          <a:ln/>
        </p:spPr>
        <p:txBody>
          <a:bodyPr wrap="square" lIns="0" tIns="0" rIns="0" bIns="0" rtlCol="0" anchor="ctr"/>
          <a:lstStyle/>
          <a:p>
            <a:pPr indent="0" marL="0">
              <a:buNone/>
            </a:pPr>
            <a:r>
              <a:rPr lang="en-US" sz="2000" b="1" dirty="0">
                <a:solidFill>
                  <a:srgbClr val="1E1B2E"/>
                </a:solidFill>
                <a:latin typeface="Cambria" pitchFamily="34" charset="0"/>
                <a:ea typeface="Cambria" pitchFamily="34" charset="-122"/>
                <a:cs typeface="Cambria" pitchFamily="34" charset="-120"/>
              </a:rPr>
              <a:t>Comprendre le prototype</a:t>
            </a:r>
            <a:endParaRPr lang="en-US" sz="2000" dirty="0"/>
          </a:p>
        </p:txBody>
      </p:sp>
      <p:sp>
        <p:nvSpPr>
          <p:cNvPr id="10" name="Shape 7"/>
          <p:cNvSpPr/>
          <p:nvPr/>
        </p:nvSpPr>
        <p:spPr>
          <a:xfrm>
            <a:off x="4572000" y="1463040"/>
            <a:ext cx="3840480" cy="1371600"/>
          </a:xfrm>
          <a:prstGeom prst="roundRect">
            <a:avLst>
              <a:gd name="adj" fmla="val 8000"/>
            </a:avLst>
          </a:prstGeom>
          <a:solidFill>
            <a:srgbClr val="FFFFFF"/>
          </a:solidFill>
          <a:ln/>
          <a:effectLst>
            <a:outerShdw sx="100000" sy="100000" kx="0" ky="0" algn="bl" rotWithShape="0" blurRad="101600" dist="25400" dir="5400000">
              <a:srgbClr val="000000">
                <a:alpha val="12000"/>
              </a:srgbClr>
            </a:outerShdw>
          </a:effectLst>
        </p:spPr>
      </p:sp>
      <p:sp>
        <p:nvSpPr>
          <p:cNvPr id="11" name="Shape 8"/>
          <p:cNvSpPr/>
          <p:nvPr/>
        </p:nvSpPr>
        <p:spPr>
          <a:xfrm>
            <a:off x="4846320" y="1783080"/>
            <a:ext cx="731520" cy="731520"/>
          </a:xfrm>
          <a:prstGeom prst="ellipse">
            <a:avLst/>
          </a:prstGeom>
          <a:solidFill>
            <a:srgbClr val="F24E1E"/>
          </a:solidFill>
          <a:ln/>
        </p:spPr>
      </p:sp>
      <p:sp>
        <p:nvSpPr>
          <p:cNvPr id="12" name="Text 9"/>
          <p:cNvSpPr txBox="1"/>
          <p:nvPr/>
        </p:nvSpPr>
        <p:spPr>
          <a:xfrm>
            <a:off x="484632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3" name="Text 10"/>
          <p:cNvSpPr txBox="1"/>
          <p:nvPr/>
        </p:nvSpPr>
        <p:spPr>
          <a:xfrm>
            <a:off x="5760720" y="1737360"/>
            <a:ext cx="2468880" cy="822960"/>
          </a:xfrm>
          <a:prstGeom prst="rect">
            <a:avLst/>
          </a:prstGeom>
          <a:noFill/>
          <a:ln/>
        </p:spPr>
        <p:txBody>
          <a:bodyPr wrap="square" lIns="0" tIns="0" rIns="0" bIns="0" rtlCol="0" anchor="ctr"/>
          <a:lstStyle/>
          <a:p>
            <a:pPr indent="0" marL="0">
              <a:buNone/>
            </a:pPr>
            <a:r>
              <a:rPr lang="en-US" sz="2000" b="1" dirty="0">
                <a:solidFill>
                  <a:srgbClr val="1E1B2E"/>
                </a:solidFill>
                <a:latin typeface="Cambria" pitchFamily="34" charset="0"/>
                <a:ea typeface="Cambria" pitchFamily="34" charset="-122"/>
                <a:cs typeface="Cambria" pitchFamily="34" charset="-120"/>
              </a:rPr>
              <a:t>Interactions et animations</a:t>
            </a:r>
            <a:endParaRPr lang="en-US" sz="2000" dirty="0"/>
          </a:p>
        </p:txBody>
      </p:sp>
      <p:sp>
        <p:nvSpPr>
          <p:cNvPr id="14" name="Shape 11"/>
          <p:cNvSpPr/>
          <p:nvPr/>
        </p:nvSpPr>
        <p:spPr>
          <a:xfrm>
            <a:off x="457200" y="3108960"/>
            <a:ext cx="3840480" cy="1371600"/>
          </a:xfrm>
          <a:prstGeom prst="roundRect">
            <a:avLst>
              <a:gd name="adj" fmla="val 8000"/>
            </a:avLst>
          </a:prstGeom>
          <a:solidFill>
            <a:srgbClr val="FFFFFF"/>
          </a:solidFill>
          <a:ln/>
          <a:effectLst>
            <a:outerShdw sx="100000" sy="100000" kx="0" ky="0" algn="bl" rotWithShape="0" blurRad="101600" dist="25400" dir="5400000">
              <a:srgbClr val="000000">
                <a:alpha val="12000"/>
              </a:srgbClr>
            </a:outerShdw>
          </a:effectLst>
        </p:spPr>
      </p:sp>
      <p:sp>
        <p:nvSpPr>
          <p:cNvPr id="15" name="Shape 12"/>
          <p:cNvSpPr/>
          <p:nvPr/>
        </p:nvSpPr>
        <p:spPr>
          <a:xfrm>
            <a:off x="731520" y="3429000"/>
            <a:ext cx="731520" cy="731520"/>
          </a:xfrm>
          <a:prstGeom prst="ellipse">
            <a:avLst/>
          </a:prstGeom>
          <a:solidFill>
            <a:srgbClr val="1ABCFE"/>
          </a:solidFill>
          <a:ln/>
        </p:spPr>
      </p:sp>
      <p:sp>
        <p:nvSpPr>
          <p:cNvPr id="16" name="Text 13"/>
          <p:cNvSpPr txBox="1"/>
          <p:nvPr/>
        </p:nvSpPr>
        <p:spPr>
          <a:xfrm>
            <a:off x="731520" y="342900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7" name="Text 14"/>
          <p:cNvSpPr txBox="1"/>
          <p:nvPr/>
        </p:nvSpPr>
        <p:spPr>
          <a:xfrm>
            <a:off x="1645920" y="3383280"/>
            <a:ext cx="2468880" cy="822960"/>
          </a:xfrm>
          <a:prstGeom prst="rect">
            <a:avLst/>
          </a:prstGeom>
          <a:noFill/>
          <a:ln/>
        </p:spPr>
        <p:txBody>
          <a:bodyPr wrap="square" lIns="0" tIns="0" rIns="0" bIns="0" rtlCol="0" anchor="ctr"/>
          <a:lstStyle/>
          <a:p>
            <a:pPr indent="0" marL="0">
              <a:buNone/>
            </a:pPr>
            <a:r>
              <a:rPr lang="en-US" sz="2000" b="1" dirty="0">
                <a:solidFill>
                  <a:srgbClr val="1E1B2E"/>
                </a:solidFill>
                <a:latin typeface="Cambria" pitchFamily="34" charset="0"/>
                <a:ea typeface="Cambria" pitchFamily="34" charset="-122"/>
                <a:cs typeface="Cambria" pitchFamily="34" charset="-120"/>
              </a:rPr>
              <a:t>Test et partage</a:t>
            </a:r>
            <a:endParaRPr lang="en-US" sz="2000" dirty="0"/>
          </a:p>
        </p:txBody>
      </p:sp>
      <p:sp>
        <p:nvSpPr>
          <p:cNvPr id="18" name="Shape 15"/>
          <p:cNvSpPr/>
          <p:nvPr/>
        </p:nvSpPr>
        <p:spPr>
          <a:xfrm>
            <a:off x="4572000" y="3108960"/>
            <a:ext cx="3840480" cy="1371600"/>
          </a:xfrm>
          <a:prstGeom prst="roundRect">
            <a:avLst>
              <a:gd name="adj" fmla="val 8000"/>
            </a:avLst>
          </a:prstGeom>
          <a:solidFill>
            <a:srgbClr val="FFFFFF"/>
          </a:solidFill>
          <a:ln/>
          <a:effectLst>
            <a:outerShdw sx="100000" sy="100000" kx="0" ky="0" algn="bl" rotWithShape="0" blurRad="101600" dist="25400" dir="5400000">
              <a:srgbClr val="000000">
                <a:alpha val="12000"/>
              </a:srgbClr>
            </a:outerShdw>
          </a:effectLst>
        </p:spPr>
      </p:sp>
      <p:sp>
        <p:nvSpPr>
          <p:cNvPr id="19" name="Shape 16"/>
          <p:cNvSpPr/>
          <p:nvPr/>
        </p:nvSpPr>
        <p:spPr>
          <a:xfrm>
            <a:off x="4846320" y="3429000"/>
            <a:ext cx="731520" cy="731520"/>
          </a:xfrm>
          <a:prstGeom prst="ellipse">
            <a:avLst/>
          </a:prstGeom>
          <a:solidFill>
            <a:srgbClr val="0ACF83"/>
          </a:solidFill>
          <a:ln/>
        </p:spPr>
      </p:sp>
      <p:sp>
        <p:nvSpPr>
          <p:cNvPr id="20" name="Text 17"/>
          <p:cNvSpPr txBox="1"/>
          <p:nvPr/>
        </p:nvSpPr>
        <p:spPr>
          <a:xfrm>
            <a:off x="4846320" y="342900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21" name="Text 18"/>
          <p:cNvSpPr txBox="1"/>
          <p:nvPr/>
        </p:nvSpPr>
        <p:spPr>
          <a:xfrm>
            <a:off x="5760720" y="3383280"/>
            <a:ext cx="2468880" cy="822960"/>
          </a:xfrm>
          <a:prstGeom prst="rect">
            <a:avLst/>
          </a:prstGeom>
          <a:noFill/>
          <a:ln/>
        </p:spPr>
        <p:txBody>
          <a:bodyPr wrap="square" lIns="0" tIns="0" rIns="0" bIns="0" rtlCol="0" anchor="ctr"/>
          <a:lstStyle/>
          <a:p>
            <a:pPr indent="0" marL="0">
              <a:buNone/>
            </a:pPr>
            <a:r>
              <a:rPr lang="en-US" sz="2000" b="1" dirty="0">
                <a:solidFill>
                  <a:srgbClr val="1E1B2E"/>
                </a:solidFill>
                <a:latin typeface="Cambria" pitchFamily="34" charset="0"/>
                <a:ea typeface="Cambria" pitchFamily="34" charset="-122"/>
                <a:cs typeface="Cambria" pitchFamily="34" charset="-120"/>
              </a:rPr>
              <a:t>TP : parcours de réservation</a:t>
            </a:r>
            <a:endParaRPr lang="en-US" sz="2000" dirty="0"/>
          </a:p>
        </p:txBody>
      </p:sp>
      <p:sp>
        <p:nvSpPr>
          <p:cNvPr id="22" name="Text 19"/>
          <p:cNvSpPr txBox="1"/>
          <p:nvPr/>
        </p:nvSpPr>
        <p:spPr>
          <a:xfrm>
            <a:off x="457200" y="4617720"/>
            <a:ext cx="5486400" cy="274320"/>
          </a:xfrm>
          <a:prstGeom prst="rect">
            <a:avLst/>
          </a:prstGeom>
          <a:noFill/>
          <a:ln/>
        </p:spPr>
        <p:txBody>
          <a:bodyPr wrap="square" lIns="0" tIns="0" rIns="0" bIns="0" rtlCol="0" anchor="t"/>
          <a:lstStyle/>
          <a:p>
            <a:pPr indent="0" marL="0">
              <a:buNone/>
            </a:pPr>
            <a:r>
              <a:rPr lang="en-US" sz="1400" i="1" dirty="0">
                <a:solidFill>
                  <a:srgbClr val="6B6880"/>
                </a:solidFill>
                <a:latin typeface="Calibri" pitchFamily="34" charset="0"/>
                <a:ea typeface="Calibri" pitchFamily="34" charset="-122"/>
                <a:cs typeface="Calibri" pitchFamily="34" charset="-120"/>
              </a:rPr>
              <a:t>+ un quiz interactif à la fin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B"/>
        </a:solidFill>
      </p:bgPr>
    </p:bg>
    <p:spTree>
      <p:nvGrpSpPr>
        <p:cNvPr id="1" name=""/>
        <p:cNvGrpSpPr/>
        <p:nvPr/>
      </p:nvGrpSpPr>
      <p:grpSpPr>
        <a:xfrm>
          <a:off x="0" y="0"/>
          <a:ext cx="0" cy="0"/>
          <a:chOff x="0" y="0"/>
          <a:chExt cx="0" cy="0"/>
        </a:xfrm>
      </p:grpSpPr>
      <p:sp>
        <p:nvSpPr>
          <p:cNvPr id="2" name="Text 0"/>
          <p:cNvSpPr txBox="1"/>
          <p:nvPr/>
        </p:nvSpPr>
        <p:spPr>
          <a:xfrm>
            <a:off x="457200" y="365760"/>
            <a:ext cx="6766560" cy="731520"/>
          </a:xfrm>
          <a:prstGeom prst="rect">
            <a:avLst/>
          </a:prstGeom>
          <a:noFill/>
          <a:ln/>
        </p:spPr>
        <p:txBody>
          <a:bodyPr wrap="square" lIns="0" tIns="0" rIns="0" bIns="0" rtlCol="0" anchor="ctr"/>
          <a:lstStyle/>
          <a:p>
            <a:pPr indent="0" marL="0">
              <a:buNone/>
            </a:pPr>
            <a:r>
              <a:rPr lang="en-US" sz="3200" b="1" dirty="0">
                <a:solidFill>
                  <a:srgbClr val="1E1B2E"/>
                </a:solidFill>
                <a:latin typeface="Cambria" pitchFamily="34" charset="0"/>
                <a:ea typeface="Cambria" pitchFamily="34" charset="-122"/>
                <a:cs typeface="Cambria" pitchFamily="34" charset="-120"/>
              </a:rPr>
              <a:t>Maquette statique vs prototype interactif</a:t>
            </a:r>
            <a:endParaRPr lang="en-US" sz="3200" dirty="0"/>
          </a:p>
        </p:txBody>
      </p:sp>
      <p:sp>
        <p:nvSpPr>
          <p:cNvPr id="3" name="Shape 1"/>
          <p:cNvSpPr/>
          <p:nvPr/>
        </p:nvSpPr>
        <p:spPr>
          <a:xfrm>
            <a:off x="7406640" y="228600"/>
            <a:ext cx="1280160" cy="292608"/>
          </a:xfrm>
          <a:prstGeom prst="roundRect">
            <a:avLst>
              <a:gd name="adj" fmla="val 50000"/>
            </a:avLst>
          </a:prstGeom>
          <a:solidFill>
            <a:srgbClr val="1E1B2E"/>
          </a:solidFill>
          <a:ln/>
        </p:spPr>
      </p:sp>
      <p:sp>
        <p:nvSpPr>
          <p:cNvPr id="4" name="Text 2"/>
          <p:cNvSpPr txBox="1"/>
          <p:nvPr/>
        </p:nvSpPr>
        <p:spPr>
          <a:xfrm>
            <a:off x="7406640" y="2286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 1</a:t>
            </a:r>
            <a:endParaRPr lang="en-US" sz="1100" dirty="0"/>
          </a:p>
        </p:txBody>
      </p:sp>
      <p:sp>
        <p:nvSpPr>
          <p:cNvPr id="6" name="Shape 3"/>
          <p:cNvSpPr/>
          <p:nvPr/>
        </p:nvSpPr>
        <p:spPr>
          <a:xfrm>
            <a:off x="457200" y="1280160"/>
            <a:ext cx="3840480" cy="2743200"/>
          </a:xfrm>
          <a:prstGeom prst="roundRect">
            <a:avLst>
              <a:gd name="adj" fmla="val 4000"/>
            </a:avLst>
          </a:prstGeom>
          <a:solidFill>
            <a:srgbClr val="FFFFFF"/>
          </a:solidFill>
          <a:ln/>
          <a:effectLst>
            <a:outerShdw sx="100000" sy="100000" kx="0" ky="0" algn="bl" rotWithShape="0" blurRad="101600" dist="25400" dir="5400000">
              <a:srgbClr val="000000">
                <a:alpha val="12000"/>
              </a:srgbClr>
            </a:outerShdw>
          </a:effectLst>
        </p:spPr>
      </p:sp>
      <p:sp>
        <p:nvSpPr>
          <p:cNvPr id="7" name="Text 4"/>
          <p:cNvSpPr txBox="1"/>
          <p:nvPr/>
        </p:nvSpPr>
        <p:spPr>
          <a:xfrm>
            <a:off x="731520" y="1417320"/>
            <a:ext cx="3291840" cy="365760"/>
          </a:xfrm>
          <a:prstGeom prst="rect">
            <a:avLst/>
          </a:prstGeom>
          <a:noFill/>
          <a:ln/>
        </p:spPr>
        <p:txBody>
          <a:bodyPr wrap="square" lIns="0" tIns="0" rIns="0" bIns="0" rtlCol="0" anchor="t"/>
          <a:lstStyle/>
          <a:p>
            <a:pPr indent="0" marL="0">
              <a:buNone/>
            </a:pPr>
            <a:r>
              <a:rPr lang="en-US" sz="2000" b="1" dirty="0">
                <a:solidFill>
                  <a:srgbClr val="1E1B2E"/>
                </a:solidFill>
                <a:latin typeface="Cambria" pitchFamily="34" charset="0"/>
                <a:ea typeface="Cambria" pitchFamily="34" charset="-122"/>
                <a:cs typeface="Cambria" pitchFamily="34" charset="-120"/>
              </a:rPr>
              <a:t>Maquette statique</a:t>
            </a:r>
            <a:endParaRPr lang="en-US" sz="2000" dirty="0"/>
          </a:p>
        </p:txBody>
      </p:sp>
      <p:sp>
        <p:nvSpPr>
          <p:cNvPr id="8" name="Shape 5"/>
          <p:cNvSpPr/>
          <p:nvPr/>
        </p:nvSpPr>
        <p:spPr>
          <a:xfrm>
            <a:off x="777240" y="1965960"/>
            <a:ext cx="868680" cy="1463040"/>
          </a:xfrm>
          <a:prstGeom prst="roundRect">
            <a:avLst>
              <a:gd name="adj" fmla="val 10526"/>
            </a:avLst>
          </a:prstGeom>
          <a:solidFill>
            <a:srgbClr val="FFFFFF"/>
          </a:solidFill>
          <a:ln w="19050">
            <a:solidFill>
              <a:srgbClr val="6B6880"/>
            </a:solidFill>
            <a:prstDash val="solid"/>
          </a:ln>
        </p:spPr>
      </p:sp>
      <p:sp>
        <p:nvSpPr>
          <p:cNvPr id="9" name="Shape 6"/>
          <p:cNvSpPr/>
          <p:nvPr/>
        </p:nvSpPr>
        <p:spPr>
          <a:xfrm>
            <a:off x="1828800" y="1965960"/>
            <a:ext cx="868680" cy="1463040"/>
          </a:xfrm>
          <a:prstGeom prst="roundRect">
            <a:avLst>
              <a:gd name="adj" fmla="val 10526"/>
            </a:avLst>
          </a:prstGeom>
          <a:solidFill>
            <a:srgbClr val="FFFFFF"/>
          </a:solidFill>
          <a:ln w="19050">
            <a:solidFill>
              <a:srgbClr val="6B6880"/>
            </a:solidFill>
            <a:prstDash val="solid"/>
          </a:ln>
        </p:spPr>
      </p:sp>
      <p:sp>
        <p:nvSpPr>
          <p:cNvPr id="10" name="Shape 7"/>
          <p:cNvSpPr/>
          <p:nvPr/>
        </p:nvSpPr>
        <p:spPr>
          <a:xfrm>
            <a:off x="2880360" y="1965960"/>
            <a:ext cx="868680" cy="1463040"/>
          </a:xfrm>
          <a:prstGeom prst="roundRect">
            <a:avLst>
              <a:gd name="adj" fmla="val 10526"/>
            </a:avLst>
          </a:prstGeom>
          <a:solidFill>
            <a:srgbClr val="FFFFFF"/>
          </a:solidFill>
          <a:ln w="19050">
            <a:solidFill>
              <a:srgbClr val="6B6880"/>
            </a:solidFill>
            <a:prstDash val="solid"/>
          </a:ln>
        </p:spPr>
      </p:sp>
      <p:sp>
        <p:nvSpPr>
          <p:cNvPr id="11" name="Text 8"/>
          <p:cNvSpPr txBox="1"/>
          <p:nvPr/>
        </p:nvSpPr>
        <p:spPr>
          <a:xfrm>
            <a:off x="731520" y="3611880"/>
            <a:ext cx="3291840" cy="274320"/>
          </a:xfrm>
          <a:prstGeom prst="rect">
            <a:avLst/>
          </a:prstGeom>
          <a:noFill/>
          <a:ln/>
        </p:spPr>
        <p:txBody>
          <a:bodyPr wrap="square" lIns="0" tIns="0" rIns="0" bIns="0" rtlCol="0" anchor="t"/>
          <a:lstStyle/>
          <a:p>
            <a:pPr indent="0" marL="0">
              <a:buNone/>
            </a:pPr>
            <a:r>
              <a:rPr lang="en-US" sz="1200" dirty="0">
                <a:solidFill>
                  <a:srgbClr val="6B6880"/>
                </a:solidFill>
                <a:latin typeface="Calibri" pitchFamily="34" charset="0"/>
                <a:ea typeface="Calibri" pitchFamily="34" charset="-122"/>
                <a:cs typeface="Calibri" pitchFamily="34" charset="-120"/>
              </a:rPr>
              <a:t>Des images : on regarde, on ne clique pas</a:t>
            </a:r>
            <a:endParaRPr lang="en-US" sz="1200" dirty="0"/>
          </a:p>
        </p:txBody>
      </p:sp>
      <p:sp>
        <p:nvSpPr>
          <p:cNvPr id="12" name="Shape 9"/>
          <p:cNvSpPr/>
          <p:nvPr/>
        </p:nvSpPr>
        <p:spPr>
          <a:xfrm>
            <a:off x="4846320" y="1280160"/>
            <a:ext cx="3840480" cy="2743200"/>
          </a:xfrm>
          <a:prstGeom prst="roundRect">
            <a:avLst>
              <a:gd name="adj" fmla="val 4000"/>
            </a:avLst>
          </a:prstGeom>
          <a:solidFill>
            <a:srgbClr val="FFFFFF"/>
          </a:solidFill>
          <a:ln/>
          <a:effectLst>
            <a:outerShdw sx="100000" sy="100000" kx="0" ky="0" algn="bl" rotWithShape="0" blurRad="101600" dist="25400" dir="5400000">
              <a:srgbClr val="000000">
                <a:alpha val="12000"/>
              </a:srgbClr>
            </a:outerShdw>
          </a:effectLst>
        </p:spPr>
      </p:sp>
      <p:sp>
        <p:nvSpPr>
          <p:cNvPr id="13" name="Text 10"/>
          <p:cNvSpPr txBox="1"/>
          <p:nvPr/>
        </p:nvSpPr>
        <p:spPr>
          <a:xfrm>
            <a:off x="5120640" y="1417320"/>
            <a:ext cx="3291840" cy="365760"/>
          </a:xfrm>
          <a:prstGeom prst="rect">
            <a:avLst/>
          </a:prstGeom>
          <a:noFill/>
          <a:ln/>
        </p:spPr>
        <p:txBody>
          <a:bodyPr wrap="square" lIns="0" tIns="0" rIns="0" bIns="0" rtlCol="0" anchor="t"/>
          <a:lstStyle/>
          <a:p>
            <a:pPr indent="0" marL="0">
              <a:buNone/>
            </a:pPr>
            <a:r>
              <a:rPr lang="en-US" sz="2000" b="1" dirty="0">
                <a:solidFill>
                  <a:srgbClr val="A259FF"/>
                </a:solidFill>
                <a:latin typeface="Cambria" pitchFamily="34" charset="0"/>
                <a:ea typeface="Cambria" pitchFamily="34" charset="-122"/>
                <a:cs typeface="Cambria" pitchFamily="34" charset="-120"/>
              </a:rPr>
              <a:t>Prototype interactif</a:t>
            </a:r>
            <a:endParaRPr lang="en-US" sz="2000" dirty="0"/>
          </a:p>
        </p:txBody>
      </p:sp>
      <p:sp>
        <p:nvSpPr>
          <p:cNvPr id="14" name="Shape 11"/>
          <p:cNvSpPr/>
          <p:nvPr/>
        </p:nvSpPr>
        <p:spPr>
          <a:xfrm>
            <a:off x="5166360" y="1965960"/>
            <a:ext cx="868680" cy="1463040"/>
          </a:xfrm>
          <a:prstGeom prst="roundRect">
            <a:avLst>
              <a:gd name="adj" fmla="val 10526"/>
            </a:avLst>
          </a:prstGeom>
          <a:solidFill>
            <a:srgbClr val="FFFFFF"/>
          </a:solidFill>
          <a:ln w="19050">
            <a:solidFill>
              <a:srgbClr val="A259FF"/>
            </a:solidFill>
            <a:prstDash val="solid"/>
          </a:ln>
        </p:spPr>
      </p:sp>
      <p:sp>
        <p:nvSpPr>
          <p:cNvPr id="15" name="Shape 12"/>
          <p:cNvSpPr/>
          <p:nvPr/>
        </p:nvSpPr>
        <p:spPr>
          <a:xfrm>
            <a:off x="6217920" y="1965960"/>
            <a:ext cx="868680" cy="1463040"/>
          </a:xfrm>
          <a:prstGeom prst="roundRect">
            <a:avLst>
              <a:gd name="adj" fmla="val 10526"/>
            </a:avLst>
          </a:prstGeom>
          <a:solidFill>
            <a:srgbClr val="FFFFFF"/>
          </a:solidFill>
          <a:ln w="19050">
            <a:solidFill>
              <a:srgbClr val="A259FF"/>
            </a:solidFill>
            <a:prstDash val="solid"/>
          </a:ln>
        </p:spPr>
      </p:sp>
      <p:sp>
        <p:nvSpPr>
          <p:cNvPr id="16" name="Shape 13"/>
          <p:cNvSpPr/>
          <p:nvPr/>
        </p:nvSpPr>
        <p:spPr>
          <a:xfrm>
            <a:off x="7269480" y="1965960"/>
            <a:ext cx="868680" cy="1463040"/>
          </a:xfrm>
          <a:prstGeom prst="roundRect">
            <a:avLst>
              <a:gd name="adj" fmla="val 10526"/>
            </a:avLst>
          </a:prstGeom>
          <a:solidFill>
            <a:srgbClr val="FFFFFF"/>
          </a:solidFill>
          <a:ln w="19050">
            <a:solidFill>
              <a:srgbClr val="A259FF"/>
            </a:solidFill>
            <a:prstDash val="solid"/>
          </a:ln>
        </p:spPr>
      </p:sp>
      <p:sp>
        <p:nvSpPr>
          <p:cNvPr id="17" name="Shape 14"/>
          <p:cNvSpPr/>
          <p:nvPr/>
        </p:nvSpPr>
        <p:spPr>
          <a:xfrm>
            <a:off x="6053328" y="2697480"/>
            <a:ext cx="146304" cy="0"/>
          </a:xfrm>
          <a:prstGeom prst="line">
            <a:avLst/>
          </a:prstGeom>
          <a:noFill/>
          <a:ln w="31750">
            <a:solidFill>
              <a:srgbClr val="1ABCFE"/>
            </a:solidFill>
            <a:prstDash val="solid"/>
            <a:tailEnd type="triangle"/>
          </a:ln>
        </p:spPr>
      </p:sp>
      <p:sp>
        <p:nvSpPr>
          <p:cNvPr id="18" name="Shape 15"/>
          <p:cNvSpPr/>
          <p:nvPr/>
        </p:nvSpPr>
        <p:spPr>
          <a:xfrm>
            <a:off x="7104888" y="2697480"/>
            <a:ext cx="146304" cy="0"/>
          </a:xfrm>
          <a:prstGeom prst="line">
            <a:avLst/>
          </a:prstGeom>
          <a:noFill/>
          <a:ln w="31750">
            <a:solidFill>
              <a:srgbClr val="1ABCFE"/>
            </a:solidFill>
            <a:prstDash val="solid"/>
            <a:tailEnd type="triangle"/>
          </a:ln>
        </p:spPr>
      </p:sp>
      <p:sp>
        <p:nvSpPr>
          <p:cNvPr id="19" name="Text 16"/>
          <p:cNvSpPr txBox="1"/>
          <p:nvPr/>
        </p:nvSpPr>
        <p:spPr>
          <a:xfrm>
            <a:off x="5120640" y="3611880"/>
            <a:ext cx="3291840" cy="274320"/>
          </a:xfrm>
          <a:prstGeom prst="rect">
            <a:avLst/>
          </a:prstGeom>
          <a:noFill/>
          <a:ln/>
        </p:spPr>
        <p:txBody>
          <a:bodyPr wrap="square" lIns="0" tIns="0" rIns="0" bIns="0" rtlCol="0" anchor="t"/>
          <a:lstStyle/>
          <a:p>
            <a:pPr indent="0" marL="0">
              <a:buNone/>
            </a:pPr>
            <a:r>
              <a:rPr lang="en-US" sz="1200" dirty="0">
                <a:solidFill>
                  <a:srgbClr val="6B6880"/>
                </a:solidFill>
                <a:latin typeface="Calibri" pitchFamily="34" charset="0"/>
                <a:ea typeface="Calibri" pitchFamily="34" charset="-122"/>
                <a:cs typeface="Calibri" pitchFamily="34" charset="-120"/>
              </a:rPr>
              <a:t>On clique, on navigue, on teste l'expérience</a:t>
            </a:r>
            <a:endParaRPr lang="en-US" sz="1200" dirty="0"/>
          </a:p>
        </p:txBody>
      </p:sp>
      <p:sp>
        <p:nvSpPr>
          <p:cNvPr id="20" name="Shape 17"/>
          <p:cNvSpPr/>
          <p:nvPr/>
        </p:nvSpPr>
        <p:spPr>
          <a:xfrm>
            <a:off x="457200" y="4251960"/>
            <a:ext cx="8229600" cy="502920"/>
          </a:xfrm>
          <a:prstGeom prst="roundRect">
            <a:avLst>
              <a:gd name="adj" fmla="val 49091"/>
            </a:avLst>
          </a:prstGeom>
          <a:solidFill>
            <a:srgbClr val="1E1B2E"/>
          </a:solidFill>
          <a:ln/>
        </p:spPr>
      </p:sp>
      <p:sp>
        <p:nvSpPr>
          <p:cNvPr id="21" name="Text 18"/>
          <p:cNvSpPr txBox="1"/>
          <p:nvPr/>
        </p:nvSpPr>
        <p:spPr>
          <a:xfrm>
            <a:off x="457200" y="4251960"/>
            <a:ext cx="82296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Voir l'expérience avant de coder : tester tôt, corriger vite, gagner du temps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B"/>
        </a:solidFill>
      </p:bgPr>
    </p:bg>
    <p:spTree>
      <p:nvGrpSpPr>
        <p:cNvPr id="1" name=""/>
        <p:cNvGrpSpPr/>
        <p:nvPr/>
      </p:nvGrpSpPr>
      <p:grpSpPr>
        <a:xfrm>
          <a:off x="0" y="0"/>
          <a:ext cx="0" cy="0"/>
          <a:chOff x="0" y="0"/>
          <a:chExt cx="0" cy="0"/>
        </a:xfrm>
      </p:grpSpPr>
      <p:sp>
        <p:nvSpPr>
          <p:cNvPr id="2" name="Text 0"/>
          <p:cNvSpPr txBox="1"/>
          <p:nvPr/>
        </p:nvSpPr>
        <p:spPr>
          <a:xfrm>
            <a:off x="457200" y="365760"/>
            <a:ext cx="6766560" cy="731520"/>
          </a:xfrm>
          <a:prstGeom prst="rect">
            <a:avLst/>
          </a:prstGeom>
          <a:noFill/>
          <a:ln/>
        </p:spPr>
        <p:txBody>
          <a:bodyPr wrap="square" lIns="0" tIns="0" rIns="0" bIns="0" rtlCol="0" anchor="ctr"/>
          <a:lstStyle/>
          <a:p>
            <a:pPr indent="0" marL="0">
              <a:buNone/>
            </a:pPr>
            <a:r>
              <a:rPr lang="en-US" sz="3200" b="1" dirty="0">
                <a:solidFill>
                  <a:srgbClr val="1E1B2E"/>
                </a:solidFill>
                <a:latin typeface="Cambria" pitchFamily="34" charset="0"/>
                <a:ea typeface="Cambria" pitchFamily="34" charset="-122"/>
                <a:cs typeface="Cambria" pitchFamily="34" charset="-120"/>
              </a:rPr>
              <a:t>Relier les écrans</a:t>
            </a:r>
            <a:endParaRPr lang="en-US" sz="3200" dirty="0"/>
          </a:p>
        </p:txBody>
      </p:sp>
      <p:sp>
        <p:nvSpPr>
          <p:cNvPr id="3" name="Shape 1"/>
          <p:cNvSpPr/>
          <p:nvPr/>
        </p:nvSpPr>
        <p:spPr>
          <a:xfrm>
            <a:off x="7406640" y="228600"/>
            <a:ext cx="1280160" cy="292608"/>
          </a:xfrm>
          <a:prstGeom prst="roundRect">
            <a:avLst>
              <a:gd name="adj" fmla="val 50000"/>
            </a:avLst>
          </a:prstGeom>
          <a:solidFill>
            <a:srgbClr val="1E1B2E"/>
          </a:solidFill>
          <a:ln/>
        </p:spPr>
      </p:sp>
      <p:sp>
        <p:nvSpPr>
          <p:cNvPr id="4" name="Text 2"/>
          <p:cNvSpPr txBox="1"/>
          <p:nvPr/>
        </p:nvSpPr>
        <p:spPr>
          <a:xfrm>
            <a:off x="7406640" y="2286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 2</a:t>
            </a:r>
            <a:endParaRPr lang="en-US" sz="1100" dirty="0"/>
          </a:p>
        </p:txBody>
      </p:sp>
      <p:sp>
        <p:nvSpPr>
          <p:cNvPr id="6" name="Shape 3"/>
          <p:cNvSpPr/>
          <p:nvPr/>
        </p:nvSpPr>
        <p:spPr>
          <a:xfrm>
            <a:off x="457200" y="1371600"/>
            <a:ext cx="548640" cy="548640"/>
          </a:xfrm>
          <a:prstGeom prst="ellipse">
            <a:avLst/>
          </a:prstGeom>
          <a:solidFill>
            <a:srgbClr val="A259FF"/>
          </a:solidFill>
          <a:ln/>
        </p:spPr>
      </p:sp>
      <p:sp>
        <p:nvSpPr>
          <p:cNvPr id="7" name="Text 4"/>
          <p:cNvSpPr txBox="1"/>
          <p:nvPr/>
        </p:nvSpPr>
        <p:spPr>
          <a:xfrm>
            <a:off x="457200" y="1371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5"/>
          <p:cNvSpPr txBox="1"/>
          <p:nvPr/>
        </p:nvSpPr>
        <p:spPr>
          <a:xfrm>
            <a:off x="1188720" y="1371600"/>
            <a:ext cx="3291840" cy="548640"/>
          </a:xfrm>
          <a:prstGeom prst="rect">
            <a:avLst/>
          </a:prstGeom>
          <a:noFill/>
          <a:ln/>
        </p:spPr>
        <p:txBody>
          <a:bodyPr wrap="square" lIns="0" tIns="0" rIns="0" bIns="0" rtlCol="0" anchor="ctr"/>
          <a:lstStyle/>
          <a:p>
            <a:pPr indent="0" marL="0">
              <a:buNone/>
            </a:pPr>
            <a:r>
              <a:rPr lang="en-US" sz="1600" dirty="0">
                <a:solidFill>
                  <a:srgbClr val="1E1B2E"/>
                </a:solidFill>
                <a:latin typeface="Calibri" pitchFamily="34" charset="0"/>
                <a:ea typeface="Calibri" pitchFamily="34" charset="-122"/>
                <a:cs typeface="Calibri" pitchFamily="34" charset="-120"/>
              </a:rPr>
              <a:t>Ouvrir l'onglet Prototype</a:t>
            </a:r>
            <a:endParaRPr lang="en-US" sz="1600" dirty="0"/>
          </a:p>
        </p:txBody>
      </p:sp>
      <p:sp>
        <p:nvSpPr>
          <p:cNvPr id="9" name="Shape 6"/>
          <p:cNvSpPr/>
          <p:nvPr/>
        </p:nvSpPr>
        <p:spPr>
          <a:xfrm>
            <a:off x="457200" y="2240280"/>
            <a:ext cx="548640" cy="548640"/>
          </a:xfrm>
          <a:prstGeom prst="ellipse">
            <a:avLst/>
          </a:prstGeom>
          <a:solidFill>
            <a:srgbClr val="A259FF"/>
          </a:solidFill>
          <a:ln/>
        </p:spPr>
      </p:sp>
      <p:sp>
        <p:nvSpPr>
          <p:cNvPr id="10" name="Text 7"/>
          <p:cNvSpPr txBox="1"/>
          <p:nvPr/>
        </p:nvSpPr>
        <p:spPr>
          <a:xfrm>
            <a:off x="457200" y="22402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1188720" y="2240280"/>
            <a:ext cx="3291840" cy="548640"/>
          </a:xfrm>
          <a:prstGeom prst="rect">
            <a:avLst/>
          </a:prstGeom>
          <a:noFill/>
          <a:ln/>
        </p:spPr>
        <p:txBody>
          <a:bodyPr wrap="square" lIns="0" tIns="0" rIns="0" bIns="0" rtlCol="0" anchor="ctr"/>
          <a:lstStyle/>
          <a:p>
            <a:pPr indent="0" marL="0">
              <a:buNone/>
            </a:pPr>
            <a:r>
              <a:rPr lang="en-US" sz="1600" dirty="0">
                <a:solidFill>
                  <a:srgbClr val="1E1B2E"/>
                </a:solidFill>
                <a:latin typeface="Calibri" pitchFamily="34" charset="0"/>
                <a:ea typeface="Calibri" pitchFamily="34" charset="-122"/>
                <a:cs typeface="Calibri" pitchFamily="34" charset="-120"/>
              </a:rPr>
              <a:t>Sélectionner un élément (ex. un bouton)</a:t>
            </a:r>
            <a:endParaRPr lang="en-US" sz="1600" dirty="0"/>
          </a:p>
        </p:txBody>
      </p:sp>
      <p:sp>
        <p:nvSpPr>
          <p:cNvPr id="12" name="Shape 9"/>
          <p:cNvSpPr/>
          <p:nvPr/>
        </p:nvSpPr>
        <p:spPr>
          <a:xfrm>
            <a:off x="457200" y="3108960"/>
            <a:ext cx="548640" cy="548640"/>
          </a:xfrm>
          <a:prstGeom prst="ellipse">
            <a:avLst/>
          </a:prstGeom>
          <a:solidFill>
            <a:srgbClr val="A259FF"/>
          </a:solidFill>
          <a:ln/>
        </p:spPr>
      </p:sp>
      <p:sp>
        <p:nvSpPr>
          <p:cNvPr id="13" name="Text 10"/>
          <p:cNvSpPr txBox="1"/>
          <p:nvPr/>
        </p:nvSpPr>
        <p:spPr>
          <a:xfrm>
            <a:off x="457200" y="3108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1"/>
          <p:cNvSpPr txBox="1"/>
          <p:nvPr/>
        </p:nvSpPr>
        <p:spPr>
          <a:xfrm>
            <a:off x="1188720" y="3108960"/>
            <a:ext cx="3291840" cy="548640"/>
          </a:xfrm>
          <a:prstGeom prst="rect">
            <a:avLst/>
          </a:prstGeom>
          <a:noFill/>
          <a:ln/>
        </p:spPr>
        <p:txBody>
          <a:bodyPr wrap="square" lIns="0" tIns="0" rIns="0" bIns="0" rtlCol="0" anchor="ctr"/>
          <a:lstStyle/>
          <a:p>
            <a:pPr indent="0" marL="0">
              <a:buNone/>
            </a:pPr>
            <a:r>
              <a:rPr lang="en-US" sz="1600" dirty="0">
                <a:solidFill>
                  <a:srgbClr val="1E1B2E"/>
                </a:solidFill>
                <a:latin typeface="Calibri" pitchFamily="34" charset="0"/>
                <a:ea typeface="Calibri" pitchFamily="34" charset="-122"/>
                <a:cs typeface="Calibri" pitchFamily="34" charset="-120"/>
              </a:rPr>
              <a:t>Tirer la flèche vers l'écran suivant</a:t>
            </a:r>
            <a:endParaRPr lang="en-US" sz="1600" dirty="0"/>
          </a:p>
        </p:txBody>
      </p:sp>
      <p:sp>
        <p:nvSpPr>
          <p:cNvPr id="15" name="Shape 12"/>
          <p:cNvSpPr/>
          <p:nvPr/>
        </p:nvSpPr>
        <p:spPr>
          <a:xfrm>
            <a:off x="457200" y="3977640"/>
            <a:ext cx="548640" cy="548640"/>
          </a:xfrm>
          <a:prstGeom prst="ellipse">
            <a:avLst/>
          </a:prstGeom>
          <a:solidFill>
            <a:srgbClr val="A259FF"/>
          </a:solidFill>
          <a:ln/>
        </p:spPr>
      </p:sp>
      <p:sp>
        <p:nvSpPr>
          <p:cNvPr id="16" name="Text 13"/>
          <p:cNvSpPr txBox="1"/>
          <p:nvPr/>
        </p:nvSpPr>
        <p:spPr>
          <a:xfrm>
            <a:off x="457200" y="3977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7" name="Text 14"/>
          <p:cNvSpPr txBox="1"/>
          <p:nvPr/>
        </p:nvSpPr>
        <p:spPr>
          <a:xfrm>
            <a:off x="1188720" y="3977640"/>
            <a:ext cx="3291840" cy="548640"/>
          </a:xfrm>
          <a:prstGeom prst="rect">
            <a:avLst/>
          </a:prstGeom>
          <a:noFill/>
          <a:ln/>
        </p:spPr>
        <p:txBody>
          <a:bodyPr wrap="square" lIns="0" tIns="0" rIns="0" bIns="0" rtlCol="0" anchor="ctr"/>
          <a:lstStyle/>
          <a:p>
            <a:pPr indent="0" marL="0">
              <a:buNone/>
            </a:pPr>
            <a:r>
              <a:rPr lang="en-US" sz="1600" dirty="0">
                <a:solidFill>
                  <a:srgbClr val="1E1B2E"/>
                </a:solidFill>
                <a:latin typeface="Calibri" pitchFamily="34" charset="0"/>
                <a:ea typeface="Calibri" pitchFamily="34" charset="-122"/>
                <a:cs typeface="Calibri" pitchFamily="34" charset="-120"/>
              </a:rPr>
              <a:t>Définir le Flow starting point</a:t>
            </a:r>
            <a:endParaRPr lang="en-US" sz="1600" dirty="0"/>
          </a:p>
        </p:txBody>
      </p:sp>
      <p:sp>
        <p:nvSpPr>
          <p:cNvPr id="18" name="Shape 15"/>
          <p:cNvSpPr/>
          <p:nvPr/>
        </p:nvSpPr>
        <p:spPr>
          <a:xfrm>
            <a:off x="4846320" y="1280160"/>
            <a:ext cx="3840480" cy="3200400"/>
          </a:xfrm>
          <a:prstGeom prst="roundRect">
            <a:avLst>
              <a:gd name="adj" fmla="val 3429"/>
            </a:avLst>
          </a:prstGeom>
          <a:solidFill>
            <a:srgbClr val="FFFFFF"/>
          </a:solidFill>
          <a:ln/>
          <a:effectLst>
            <a:outerShdw sx="100000" sy="100000" kx="0" ky="0" algn="bl" rotWithShape="0" blurRad="101600" dist="25400" dir="5400000">
              <a:srgbClr val="000000">
                <a:alpha val="12000"/>
              </a:srgbClr>
            </a:outerShdw>
          </a:effectLst>
        </p:spPr>
      </p:sp>
      <p:sp>
        <p:nvSpPr>
          <p:cNvPr id="19" name="Shape 16"/>
          <p:cNvSpPr/>
          <p:nvPr/>
        </p:nvSpPr>
        <p:spPr>
          <a:xfrm>
            <a:off x="5120640" y="1645920"/>
            <a:ext cx="1371600" cy="2377440"/>
          </a:xfrm>
          <a:prstGeom prst="roundRect">
            <a:avLst>
              <a:gd name="adj" fmla="val 6667"/>
            </a:avLst>
          </a:prstGeom>
          <a:solidFill>
            <a:srgbClr val="FFFFFF"/>
          </a:solidFill>
          <a:ln w="19050">
            <a:solidFill>
              <a:srgbClr val="A259FF"/>
            </a:solidFill>
            <a:prstDash val="solid"/>
          </a:ln>
        </p:spPr>
      </p:sp>
      <p:sp>
        <p:nvSpPr>
          <p:cNvPr id="20" name="Text 17"/>
          <p:cNvSpPr txBox="1"/>
          <p:nvPr/>
        </p:nvSpPr>
        <p:spPr>
          <a:xfrm>
            <a:off x="5120640" y="3749040"/>
            <a:ext cx="1371600" cy="228600"/>
          </a:xfrm>
          <a:prstGeom prst="rect">
            <a:avLst/>
          </a:prstGeom>
          <a:noFill/>
          <a:ln/>
        </p:spPr>
        <p:txBody>
          <a:bodyPr wrap="square" lIns="0" tIns="0" rIns="0" bIns="0" rtlCol="0" anchor="ctr"/>
          <a:lstStyle/>
          <a:p>
            <a:pPr algn="ctr" indent="0" marL="0">
              <a:buNone/>
            </a:pPr>
            <a:r>
              <a:rPr lang="en-US" sz="1000" dirty="0">
                <a:solidFill>
                  <a:srgbClr val="6B6880"/>
                </a:solidFill>
                <a:latin typeface="Calibri" pitchFamily="34" charset="0"/>
                <a:ea typeface="Calibri" pitchFamily="34" charset="-122"/>
                <a:cs typeface="Calibri" pitchFamily="34" charset="-120"/>
              </a:rPr>
              <a:t>Accueil</a:t>
            </a:r>
            <a:endParaRPr lang="en-US" sz="1000" dirty="0"/>
          </a:p>
        </p:txBody>
      </p:sp>
      <p:sp>
        <p:nvSpPr>
          <p:cNvPr id="21" name="Shape 18"/>
          <p:cNvSpPr/>
          <p:nvPr/>
        </p:nvSpPr>
        <p:spPr>
          <a:xfrm>
            <a:off x="7040880" y="1645920"/>
            <a:ext cx="1371600" cy="2377440"/>
          </a:xfrm>
          <a:prstGeom prst="roundRect">
            <a:avLst>
              <a:gd name="adj" fmla="val 6667"/>
            </a:avLst>
          </a:prstGeom>
          <a:solidFill>
            <a:srgbClr val="FFFFFF"/>
          </a:solidFill>
          <a:ln w="19050">
            <a:solidFill>
              <a:srgbClr val="A259FF"/>
            </a:solidFill>
            <a:prstDash val="solid"/>
          </a:ln>
        </p:spPr>
      </p:sp>
      <p:sp>
        <p:nvSpPr>
          <p:cNvPr id="22" name="Text 19"/>
          <p:cNvSpPr txBox="1"/>
          <p:nvPr/>
        </p:nvSpPr>
        <p:spPr>
          <a:xfrm>
            <a:off x="7040880" y="3749040"/>
            <a:ext cx="1371600" cy="228600"/>
          </a:xfrm>
          <a:prstGeom prst="rect">
            <a:avLst/>
          </a:prstGeom>
          <a:noFill/>
          <a:ln/>
        </p:spPr>
        <p:txBody>
          <a:bodyPr wrap="square" lIns="0" tIns="0" rIns="0" bIns="0" rtlCol="0" anchor="ctr"/>
          <a:lstStyle/>
          <a:p>
            <a:pPr algn="ctr" indent="0" marL="0">
              <a:buNone/>
            </a:pPr>
            <a:r>
              <a:rPr lang="en-US" sz="1000" dirty="0">
                <a:solidFill>
                  <a:srgbClr val="6B6880"/>
                </a:solidFill>
                <a:latin typeface="Calibri" pitchFamily="34" charset="0"/>
                <a:ea typeface="Calibri" pitchFamily="34" charset="-122"/>
                <a:cs typeface="Calibri" pitchFamily="34" charset="-120"/>
              </a:rPr>
              <a:t>Recherche</a:t>
            </a:r>
            <a:endParaRPr lang="en-US" sz="1000" dirty="0"/>
          </a:p>
        </p:txBody>
      </p:sp>
      <p:sp>
        <p:nvSpPr>
          <p:cNvPr id="23" name="Shape 20"/>
          <p:cNvSpPr/>
          <p:nvPr/>
        </p:nvSpPr>
        <p:spPr>
          <a:xfrm>
            <a:off x="5303520" y="2926080"/>
            <a:ext cx="1005840" cy="365760"/>
          </a:xfrm>
          <a:prstGeom prst="roundRect">
            <a:avLst>
              <a:gd name="adj" fmla="val 50000"/>
            </a:avLst>
          </a:prstGeom>
          <a:solidFill>
            <a:srgbClr val="A259FF"/>
          </a:solidFill>
          <a:ln/>
        </p:spPr>
      </p:sp>
      <p:sp>
        <p:nvSpPr>
          <p:cNvPr id="24" name="Text 21"/>
          <p:cNvSpPr txBox="1"/>
          <p:nvPr/>
        </p:nvSpPr>
        <p:spPr>
          <a:xfrm>
            <a:off x="5303520" y="2926080"/>
            <a:ext cx="100584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Rechercher</a:t>
            </a:r>
            <a:endParaRPr lang="en-US" sz="1000" dirty="0"/>
          </a:p>
        </p:txBody>
      </p:sp>
      <p:sp>
        <p:nvSpPr>
          <p:cNvPr id="25" name="Shape 22"/>
          <p:cNvSpPr/>
          <p:nvPr/>
        </p:nvSpPr>
        <p:spPr>
          <a:xfrm>
            <a:off x="6309360" y="3108960"/>
            <a:ext cx="731520" cy="0"/>
          </a:xfrm>
          <a:prstGeom prst="line">
            <a:avLst/>
          </a:prstGeom>
          <a:noFill/>
          <a:ln w="31750">
            <a:solidFill>
              <a:srgbClr val="1ABCFE"/>
            </a:solidFill>
            <a:prstDash val="solid"/>
            <a:tailEnd type="triangle"/>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B"/>
        </a:solidFill>
      </p:bgPr>
    </p:bg>
    <p:spTree>
      <p:nvGrpSpPr>
        <p:cNvPr id="1" name=""/>
        <p:cNvGrpSpPr/>
        <p:nvPr/>
      </p:nvGrpSpPr>
      <p:grpSpPr>
        <a:xfrm>
          <a:off x="0" y="0"/>
          <a:ext cx="0" cy="0"/>
          <a:chOff x="0" y="0"/>
          <a:chExt cx="0" cy="0"/>
        </a:xfrm>
      </p:grpSpPr>
      <p:sp>
        <p:nvSpPr>
          <p:cNvPr id="2" name="Text 0"/>
          <p:cNvSpPr txBox="1"/>
          <p:nvPr/>
        </p:nvSpPr>
        <p:spPr>
          <a:xfrm>
            <a:off x="457200" y="365760"/>
            <a:ext cx="6766560" cy="731520"/>
          </a:xfrm>
          <a:prstGeom prst="rect">
            <a:avLst/>
          </a:prstGeom>
          <a:noFill/>
          <a:ln/>
        </p:spPr>
        <p:txBody>
          <a:bodyPr wrap="square" lIns="0" tIns="0" rIns="0" bIns="0" rtlCol="0" anchor="ctr"/>
          <a:lstStyle/>
          <a:p>
            <a:pPr indent="0" marL="0">
              <a:buNone/>
            </a:pPr>
            <a:r>
              <a:rPr lang="en-US" sz="3200" b="1" dirty="0">
                <a:solidFill>
                  <a:srgbClr val="1E1B2E"/>
                </a:solidFill>
                <a:latin typeface="Cambria" pitchFamily="34" charset="0"/>
                <a:ea typeface="Cambria" pitchFamily="34" charset="-122"/>
                <a:cs typeface="Cambria" pitchFamily="34" charset="-120"/>
              </a:rPr>
              <a:t>Les déclencheurs (Triggers)</a:t>
            </a:r>
            <a:endParaRPr lang="en-US" sz="3200" dirty="0"/>
          </a:p>
        </p:txBody>
      </p:sp>
      <p:sp>
        <p:nvSpPr>
          <p:cNvPr id="3" name="Shape 1"/>
          <p:cNvSpPr/>
          <p:nvPr/>
        </p:nvSpPr>
        <p:spPr>
          <a:xfrm>
            <a:off x="7406640" y="228600"/>
            <a:ext cx="1280160" cy="292608"/>
          </a:xfrm>
          <a:prstGeom prst="roundRect">
            <a:avLst>
              <a:gd name="adj" fmla="val 50000"/>
            </a:avLst>
          </a:prstGeom>
          <a:solidFill>
            <a:srgbClr val="1E1B2E"/>
          </a:solidFill>
          <a:ln/>
        </p:spPr>
      </p:sp>
      <p:sp>
        <p:nvSpPr>
          <p:cNvPr id="4" name="Text 2"/>
          <p:cNvSpPr txBox="1"/>
          <p:nvPr/>
        </p:nvSpPr>
        <p:spPr>
          <a:xfrm>
            <a:off x="7406640" y="2286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 2</a:t>
            </a:r>
            <a:endParaRPr lang="en-US" sz="1100" dirty="0"/>
          </a:p>
        </p:txBody>
      </p:sp>
      <p:sp>
        <p:nvSpPr>
          <p:cNvPr id="6" name="Shape 3"/>
          <p:cNvSpPr/>
          <p:nvPr/>
        </p:nvSpPr>
        <p:spPr>
          <a:xfrm>
            <a:off x="457200" y="1371600"/>
            <a:ext cx="3840480" cy="1508760"/>
          </a:xfrm>
          <a:prstGeom prst="roundRect">
            <a:avLst>
              <a:gd name="adj" fmla="val 7273"/>
            </a:avLst>
          </a:prstGeom>
          <a:solidFill>
            <a:srgbClr val="FFFFFF"/>
          </a:solidFill>
          <a:ln/>
          <a:effectLst>
            <a:outerShdw sx="100000" sy="100000" kx="0" ky="0" algn="bl" rotWithShape="0" blurRad="101600" dist="25400" dir="5400000">
              <a:srgbClr val="000000">
                <a:alpha val="12000"/>
              </a:srgbClr>
            </a:outerShdw>
          </a:effectLst>
        </p:spPr>
      </p:sp>
      <p:sp>
        <p:nvSpPr>
          <p:cNvPr id="7" name="Shape 4"/>
          <p:cNvSpPr/>
          <p:nvPr/>
        </p:nvSpPr>
        <p:spPr>
          <a:xfrm>
            <a:off x="685800" y="1600200"/>
            <a:ext cx="502920" cy="502920"/>
          </a:xfrm>
          <a:prstGeom prst="ellipse">
            <a:avLst/>
          </a:prstGeom>
          <a:solidFill>
            <a:srgbClr val="A259FF"/>
          </a:solidFill>
          <a:ln/>
        </p:spPr>
      </p:sp>
      <p:sp>
        <p:nvSpPr>
          <p:cNvPr id="8" name="Text 5"/>
          <p:cNvSpPr txBox="1"/>
          <p:nvPr/>
        </p:nvSpPr>
        <p:spPr>
          <a:xfrm>
            <a:off x="1371600" y="1554480"/>
            <a:ext cx="2743200" cy="365760"/>
          </a:xfrm>
          <a:prstGeom prst="rect">
            <a:avLst/>
          </a:prstGeom>
          <a:noFill/>
          <a:ln/>
        </p:spPr>
        <p:txBody>
          <a:bodyPr wrap="square" lIns="0" tIns="0" rIns="0" bIns="0" rtlCol="0" anchor="t"/>
          <a:lstStyle/>
          <a:p>
            <a:pPr indent="0" marL="0">
              <a:buNone/>
            </a:pPr>
            <a:r>
              <a:rPr lang="en-US" sz="2000" b="1" dirty="0">
                <a:solidFill>
                  <a:srgbClr val="1E1B2E"/>
                </a:solidFill>
                <a:latin typeface="Cambria" pitchFamily="34" charset="0"/>
                <a:ea typeface="Cambria" pitchFamily="34" charset="-122"/>
                <a:cs typeface="Cambria" pitchFamily="34" charset="-120"/>
              </a:rPr>
              <a:t>On Click</a:t>
            </a:r>
            <a:endParaRPr lang="en-US" sz="2000" dirty="0"/>
          </a:p>
        </p:txBody>
      </p:sp>
      <p:sp>
        <p:nvSpPr>
          <p:cNvPr id="9" name="Text 6"/>
          <p:cNvSpPr txBox="1"/>
          <p:nvPr/>
        </p:nvSpPr>
        <p:spPr>
          <a:xfrm>
            <a:off x="1371600" y="1920240"/>
            <a:ext cx="2743200" cy="274320"/>
          </a:xfrm>
          <a:prstGeom prst="rect">
            <a:avLst/>
          </a:prstGeom>
          <a:noFill/>
          <a:ln/>
        </p:spPr>
        <p:txBody>
          <a:bodyPr wrap="square" lIns="0" tIns="0" rIns="0" bIns="0" rtlCol="0" anchor="t"/>
          <a:lstStyle/>
          <a:p>
            <a:pPr indent="0" marL="0">
              <a:buNone/>
            </a:pPr>
            <a:r>
              <a:rPr lang="en-US" sz="1300" b="1" dirty="0">
                <a:solidFill>
                  <a:srgbClr val="A259FF"/>
                </a:solidFill>
                <a:latin typeface="Calibri" pitchFamily="34" charset="0"/>
                <a:ea typeface="Calibri" pitchFamily="34" charset="-122"/>
                <a:cs typeface="Calibri" pitchFamily="34" charset="-120"/>
              </a:rPr>
              <a:t>Au clic</a:t>
            </a:r>
            <a:endParaRPr lang="en-US" sz="1300" dirty="0"/>
          </a:p>
        </p:txBody>
      </p:sp>
      <p:sp>
        <p:nvSpPr>
          <p:cNvPr id="10" name="Text 7"/>
          <p:cNvSpPr txBox="1"/>
          <p:nvPr/>
        </p:nvSpPr>
        <p:spPr>
          <a:xfrm>
            <a:off x="731520" y="2286000"/>
            <a:ext cx="3383280" cy="457200"/>
          </a:xfrm>
          <a:prstGeom prst="rect">
            <a:avLst/>
          </a:prstGeom>
          <a:noFill/>
          <a:ln/>
        </p:spPr>
        <p:txBody>
          <a:bodyPr wrap="square" lIns="0" tIns="0" rIns="0" bIns="0" rtlCol="0" anchor="t"/>
          <a:lstStyle/>
          <a:p>
            <a:pPr indent="0" marL="0">
              <a:buNone/>
            </a:pPr>
            <a:r>
              <a:rPr lang="en-US" sz="1400" dirty="0">
                <a:solidFill>
                  <a:srgbClr val="6B6880"/>
                </a:solidFill>
                <a:latin typeface="Calibri" pitchFamily="34" charset="0"/>
                <a:ea typeface="Calibri" pitchFamily="34" charset="-122"/>
                <a:cs typeface="Calibri" pitchFamily="34" charset="-120"/>
              </a:rPr>
              <a:t>Bouton « Rechercher » → écran résultats</a:t>
            </a:r>
            <a:endParaRPr lang="en-US" sz="1400" dirty="0"/>
          </a:p>
        </p:txBody>
      </p:sp>
      <p:sp>
        <p:nvSpPr>
          <p:cNvPr id="11" name="Shape 8"/>
          <p:cNvSpPr/>
          <p:nvPr/>
        </p:nvSpPr>
        <p:spPr>
          <a:xfrm>
            <a:off x="4572000" y="1371600"/>
            <a:ext cx="3840480" cy="1508760"/>
          </a:xfrm>
          <a:prstGeom prst="roundRect">
            <a:avLst>
              <a:gd name="adj" fmla="val 7273"/>
            </a:avLst>
          </a:prstGeom>
          <a:solidFill>
            <a:srgbClr val="FFFFFF"/>
          </a:solidFill>
          <a:ln/>
          <a:effectLst>
            <a:outerShdw sx="100000" sy="100000" kx="0" ky="0" algn="bl" rotWithShape="0" blurRad="101600" dist="25400" dir="5400000">
              <a:srgbClr val="000000">
                <a:alpha val="12000"/>
              </a:srgbClr>
            </a:outerShdw>
          </a:effectLst>
        </p:spPr>
      </p:sp>
      <p:sp>
        <p:nvSpPr>
          <p:cNvPr id="12" name="Shape 9"/>
          <p:cNvSpPr/>
          <p:nvPr/>
        </p:nvSpPr>
        <p:spPr>
          <a:xfrm>
            <a:off x="4800600" y="1600200"/>
            <a:ext cx="502920" cy="502920"/>
          </a:xfrm>
          <a:prstGeom prst="ellipse">
            <a:avLst/>
          </a:prstGeom>
          <a:solidFill>
            <a:srgbClr val="F24E1E"/>
          </a:solidFill>
          <a:ln/>
        </p:spPr>
      </p:sp>
      <p:sp>
        <p:nvSpPr>
          <p:cNvPr id="13" name="Text 10"/>
          <p:cNvSpPr txBox="1"/>
          <p:nvPr/>
        </p:nvSpPr>
        <p:spPr>
          <a:xfrm>
            <a:off x="5486400" y="1554480"/>
            <a:ext cx="2743200" cy="365760"/>
          </a:xfrm>
          <a:prstGeom prst="rect">
            <a:avLst/>
          </a:prstGeom>
          <a:noFill/>
          <a:ln/>
        </p:spPr>
        <p:txBody>
          <a:bodyPr wrap="square" lIns="0" tIns="0" rIns="0" bIns="0" rtlCol="0" anchor="t"/>
          <a:lstStyle/>
          <a:p>
            <a:pPr indent="0" marL="0">
              <a:buNone/>
            </a:pPr>
            <a:r>
              <a:rPr lang="en-US" sz="2000" b="1" dirty="0">
                <a:solidFill>
                  <a:srgbClr val="1E1B2E"/>
                </a:solidFill>
                <a:latin typeface="Cambria" pitchFamily="34" charset="0"/>
                <a:ea typeface="Cambria" pitchFamily="34" charset="-122"/>
                <a:cs typeface="Cambria" pitchFamily="34" charset="-120"/>
              </a:rPr>
              <a:t>While Hovering</a:t>
            </a:r>
            <a:endParaRPr lang="en-US" sz="2000" dirty="0"/>
          </a:p>
        </p:txBody>
      </p:sp>
      <p:sp>
        <p:nvSpPr>
          <p:cNvPr id="14" name="Text 11"/>
          <p:cNvSpPr txBox="1"/>
          <p:nvPr/>
        </p:nvSpPr>
        <p:spPr>
          <a:xfrm>
            <a:off x="5486400" y="1920240"/>
            <a:ext cx="2743200" cy="274320"/>
          </a:xfrm>
          <a:prstGeom prst="rect">
            <a:avLst/>
          </a:prstGeom>
          <a:noFill/>
          <a:ln/>
        </p:spPr>
        <p:txBody>
          <a:bodyPr wrap="square" lIns="0" tIns="0" rIns="0" bIns="0" rtlCol="0" anchor="t"/>
          <a:lstStyle/>
          <a:p>
            <a:pPr indent="0" marL="0">
              <a:buNone/>
            </a:pPr>
            <a:r>
              <a:rPr lang="en-US" sz="1300" b="1" dirty="0">
                <a:solidFill>
                  <a:srgbClr val="F24E1E"/>
                </a:solidFill>
                <a:latin typeface="Calibri" pitchFamily="34" charset="0"/>
                <a:ea typeface="Calibri" pitchFamily="34" charset="-122"/>
                <a:cs typeface="Calibri" pitchFamily="34" charset="-120"/>
              </a:rPr>
              <a:t>Au survol</a:t>
            </a:r>
            <a:endParaRPr lang="en-US" sz="1300" dirty="0"/>
          </a:p>
        </p:txBody>
      </p:sp>
      <p:sp>
        <p:nvSpPr>
          <p:cNvPr id="15" name="Text 12"/>
          <p:cNvSpPr txBox="1"/>
          <p:nvPr/>
        </p:nvSpPr>
        <p:spPr>
          <a:xfrm>
            <a:off x="4846320" y="2286000"/>
            <a:ext cx="3383280" cy="457200"/>
          </a:xfrm>
          <a:prstGeom prst="rect">
            <a:avLst/>
          </a:prstGeom>
          <a:noFill/>
          <a:ln/>
        </p:spPr>
        <p:txBody>
          <a:bodyPr wrap="square" lIns="0" tIns="0" rIns="0" bIns="0" rtlCol="0" anchor="t"/>
          <a:lstStyle/>
          <a:p>
            <a:pPr indent="0" marL="0">
              <a:buNone/>
            </a:pPr>
            <a:r>
              <a:rPr lang="en-US" sz="1400" dirty="0">
                <a:solidFill>
                  <a:srgbClr val="6B6880"/>
                </a:solidFill>
                <a:latin typeface="Calibri" pitchFamily="34" charset="0"/>
                <a:ea typeface="Calibri" pitchFamily="34" charset="-122"/>
                <a:cs typeface="Calibri" pitchFamily="34" charset="-120"/>
              </a:rPr>
              <a:t>Carte d'hôtel qui change de couleur</a:t>
            </a:r>
            <a:endParaRPr lang="en-US" sz="1400" dirty="0"/>
          </a:p>
        </p:txBody>
      </p:sp>
      <p:sp>
        <p:nvSpPr>
          <p:cNvPr id="16" name="Shape 13"/>
          <p:cNvSpPr/>
          <p:nvPr/>
        </p:nvSpPr>
        <p:spPr>
          <a:xfrm>
            <a:off x="457200" y="3063240"/>
            <a:ext cx="3840480" cy="1508760"/>
          </a:xfrm>
          <a:prstGeom prst="roundRect">
            <a:avLst>
              <a:gd name="adj" fmla="val 7273"/>
            </a:avLst>
          </a:prstGeom>
          <a:solidFill>
            <a:srgbClr val="FFFFFF"/>
          </a:solidFill>
          <a:ln/>
          <a:effectLst>
            <a:outerShdw sx="100000" sy="100000" kx="0" ky="0" algn="bl" rotWithShape="0" blurRad="101600" dist="25400" dir="5400000">
              <a:srgbClr val="000000">
                <a:alpha val="12000"/>
              </a:srgbClr>
            </a:outerShdw>
          </a:effectLst>
        </p:spPr>
      </p:sp>
      <p:sp>
        <p:nvSpPr>
          <p:cNvPr id="17" name="Shape 14"/>
          <p:cNvSpPr/>
          <p:nvPr/>
        </p:nvSpPr>
        <p:spPr>
          <a:xfrm>
            <a:off x="685800" y="3291840"/>
            <a:ext cx="502920" cy="502920"/>
          </a:xfrm>
          <a:prstGeom prst="ellipse">
            <a:avLst/>
          </a:prstGeom>
          <a:solidFill>
            <a:srgbClr val="1ABCFE"/>
          </a:solidFill>
          <a:ln/>
        </p:spPr>
      </p:sp>
      <p:sp>
        <p:nvSpPr>
          <p:cNvPr id="18" name="Text 15"/>
          <p:cNvSpPr txBox="1"/>
          <p:nvPr/>
        </p:nvSpPr>
        <p:spPr>
          <a:xfrm>
            <a:off x="1371600" y="3246120"/>
            <a:ext cx="2743200" cy="365760"/>
          </a:xfrm>
          <a:prstGeom prst="rect">
            <a:avLst/>
          </a:prstGeom>
          <a:noFill/>
          <a:ln/>
        </p:spPr>
        <p:txBody>
          <a:bodyPr wrap="square" lIns="0" tIns="0" rIns="0" bIns="0" rtlCol="0" anchor="t"/>
          <a:lstStyle/>
          <a:p>
            <a:pPr indent="0" marL="0">
              <a:buNone/>
            </a:pPr>
            <a:r>
              <a:rPr lang="en-US" sz="2000" b="1" dirty="0">
                <a:solidFill>
                  <a:srgbClr val="1E1B2E"/>
                </a:solidFill>
                <a:latin typeface="Cambria" pitchFamily="34" charset="0"/>
                <a:ea typeface="Cambria" pitchFamily="34" charset="-122"/>
                <a:cs typeface="Cambria" pitchFamily="34" charset="-120"/>
              </a:rPr>
              <a:t>While Pressing</a:t>
            </a:r>
            <a:endParaRPr lang="en-US" sz="2000" dirty="0"/>
          </a:p>
        </p:txBody>
      </p:sp>
      <p:sp>
        <p:nvSpPr>
          <p:cNvPr id="19" name="Text 16"/>
          <p:cNvSpPr txBox="1"/>
          <p:nvPr/>
        </p:nvSpPr>
        <p:spPr>
          <a:xfrm>
            <a:off x="1371600" y="3611880"/>
            <a:ext cx="2743200" cy="274320"/>
          </a:xfrm>
          <a:prstGeom prst="rect">
            <a:avLst/>
          </a:prstGeom>
          <a:noFill/>
          <a:ln/>
        </p:spPr>
        <p:txBody>
          <a:bodyPr wrap="square" lIns="0" tIns="0" rIns="0" bIns="0" rtlCol="0" anchor="t"/>
          <a:lstStyle/>
          <a:p>
            <a:pPr indent="0" marL="0">
              <a:buNone/>
            </a:pPr>
            <a:r>
              <a:rPr lang="en-US" sz="1300" b="1" dirty="0">
                <a:solidFill>
                  <a:srgbClr val="1ABCFE"/>
                </a:solidFill>
                <a:latin typeface="Calibri" pitchFamily="34" charset="0"/>
                <a:ea typeface="Calibri" pitchFamily="34" charset="-122"/>
                <a:cs typeface="Calibri" pitchFamily="34" charset="-120"/>
              </a:rPr>
              <a:t>Pendant l'appui</a:t>
            </a:r>
            <a:endParaRPr lang="en-US" sz="1300" dirty="0"/>
          </a:p>
        </p:txBody>
      </p:sp>
      <p:sp>
        <p:nvSpPr>
          <p:cNvPr id="20" name="Text 17"/>
          <p:cNvSpPr txBox="1"/>
          <p:nvPr/>
        </p:nvSpPr>
        <p:spPr>
          <a:xfrm>
            <a:off x="731520" y="3977640"/>
            <a:ext cx="3383280" cy="457200"/>
          </a:xfrm>
          <a:prstGeom prst="rect">
            <a:avLst/>
          </a:prstGeom>
          <a:noFill/>
          <a:ln/>
        </p:spPr>
        <p:txBody>
          <a:bodyPr wrap="square" lIns="0" tIns="0" rIns="0" bIns="0" rtlCol="0" anchor="t"/>
          <a:lstStyle/>
          <a:p>
            <a:pPr indent="0" marL="0">
              <a:buNone/>
            </a:pPr>
            <a:r>
              <a:rPr lang="en-US" sz="1400" dirty="0">
                <a:solidFill>
                  <a:srgbClr val="6B6880"/>
                </a:solidFill>
                <a:latin typeface="Calibri" pitchFamily="34" charset="0"/>
                <a:ea typeface="Calibri" pitchFamily="34" charset="-122"/>
                <a:cs typeface="Calibri" pitchFamily="34" charset="-120"/>
              </a:rPr>
              <a:t>Bouton qui change d'aspect quand on appuie</a:t>
            </a:r>
            <a:endParaRPr lang="en-US" sz="1400" dirty="0"/>
          </a:p>
        </p:txBody>
      </p:sp>
      <p:sp>
        <p:nvSpPr>
          <p:cNvPr id="21" name="Shape 18"/>
          <p:cNvSpPr/>
          <p:nvPr/>
        </p:nvSpPr>
        <p:spPr>
          <a:xfrm>
            <a:off x="4572000" y="3063240"/>
            <a:ext cx="3840480" cy="1508760"/>
          </a:xfrm>
          <a:prstGeom prst="roundRect">
            <a:avLst>
              <a:gd name="adj" fmla="val 7273"/>
            </a:avLst>
          </a:prstGeom>
          <a:solidFill>
            <a:srgbClr val="FFFFFF"/>
          </a:solidFill>
          <a:ln/>
          <a:effectLst>
            <a:outerShdw sx="100000" sy="100000" kx="0" ky="0" algn="bl" rotWithShape="0" blurRad="101600" dist="25400" dir="5400000">
              <a:srgbClr val="000000">
                <a:alpha val="12000"/>
              </a:srgbClr>
            </a:outerShdw>
          </a:effectLst>
        </p:spPr>
      </p:sp>
      <p:sp>
        <p:nvSpPr>
          <p:cNvPr id="22" name="Shape 19"/>
          <p:cNvSpPr/>
          <p:nvPr/>
        </p:nvSpPr>
        <p:spPr>
          <a:xfrm>
            <a:off x="4800600" y="3291840"/>
            <a:ext cx="502920" cy="502920"/>
          </a:xfrm>
          <a:prstGeom prst="ellipse">
            <a:avLst/>
          </a:prstGeom>
          <a:solidFill>
            <a:srgbClr val="0ACF83"/>
          </a:solidFill>
          <a:ln/>
        </p:spPr>
      </p:sp>
      <p:sp>
        <p:nvSpPr>
          <p:cNvPr id="23" name="Text 20"/>
          <p:cNvSpPr txBox="1"/>
          <p:nvPr/>
        </p:nvSpPr>
        <p:spPr>
          <a:xfrm>
            <a:off x="5486400" y="3246120"/>
            <a:ext cx="2743200" cy="365760"/>
          </a:xfrm>
          <a:prstGeom prst="rect">
            <a:avLst/>
          </a:prstGeom>
          <a:noFill/>
          <a:ln/>
        </p:spPr>
        <p:txBody>
          <a:bodyPr wrap="square" lIns="0" tIns="0" rIns="0" bIns="0" rtlCol="0" anchor="t"/>
          <a:lstStyle/>
          <a:p>
            <a:pPr indent="0" marL="0">
              <a:buNone/>
            </a:pPr>
            <a:r>
              <a:rPr lang="en-US" sz="2000" b="1" dirty="0">
                <a:solidFill>
                  <a:srgbClr val="1E1B2E"/>
                </a:solidFill>
                <a:latin typeface="Cambria" pitchFamily="34" charset="0"/>
                <a:ea typeface="Cambria" pitchFamily="34" charset="-122"/>
                <a:cs typeface="Cambria" pitchFamily="34" charset="-120"/>
              </a:rPr>
              <a:t>After Delay</a:t>
            </a:r>
            <a:endParaRPr lang="en-US" sz="2000" dirty="0"/>
          </a:p>
        </p:txBody>
      </p:sp>
      <p:sp>
        <p:nvSpPr>
          <p:cNvPr id="24" name="Text 21"/>
          <p:cNvSpPr txBox="1"/>
          <p:nvPr/>
        </p:nvSpPr>
        <p:spPr>
          <a:xfrm>
            <a:off x="5486400" y="3611880"/>
            <a:ext cx="2743200" cy="274320"/>
          </a:xfrm>
          <a:prstGeom prst="rect">
            <a:avLst/>
          </a:prstGeom>
          <a:noFill/>
          <a:ln/>
        </p:spPr>
        <p:txBody>
          <a:bodyPr wrap="square" lIns="0" tIns="0" rIns="0" bIns="0" rtlCol="0" anchor="t"/>
          <a:lstStyle/>
          <a:p>
            <a:pPr indent="0" marL="0">
              <a:buNone/>
            </a:pPr>
            <a:r>
              <a:rPr lang="en-US" sz="1300" b="1" dirty="0">
                <a:solidFill>
                  <a:srgbClr val="0ACF83"/>
                </a:solidFill>
                <a:latin typeface="Calibri" pitchFamily="34" charset="0"/>
                <a:ea typeface="Calibri" pitchFamily="34" charset="-122"/>
                <a:cs typeface="Calibri" pitchFamily="34" charset="-120"/>
              </a:rPr>
              <a:t>Après un délai</a:t>
            </a:r>
            <a:endParaRPr lang="en-US" sz="1300" dirty="0"/>
          </a:p>
        </p:txBody>
      </p:sp>
      <p:sp>
        <p:nvSpPr>
          <p:cNvPr id="25" name="Text 22"/>
          <p:cNvSpPr txBox="1"/>
          <p:nvPr/>
        </p:nvSpPr>
        <p:spPr>
          <a:xfrm>
            <a:off x="4846320" y="3977640"/>
            <a:ext cx="3383280" cy="457200"/>
          </a:xfrm>
          <a:prstGeom prst="rect">
            <a:avLst/>
          </a:prstGeom>
          <a:noFill/>
          <a:ln/>
        </p:spPr>
        <p:txBody>
          <a:bodyPr wrap="square" lIns="0" tIns="0" rIns="0" bIns="0" rtlCol="0" anchor="t"/>
          <a:lstStyle/>
          <a:p>
            <a:pPr indent="0" marL="0">
              <a:buNone/>
            </a:pPr>
            <a:r>
              <a:rPr lang="en-US" sz="1400" dirty="0">
                <a:solidFill>
                  <a:srgbClr val="6B6880"/>
                </a:solidFill>
                <a:latin typeface="Calibri" pitchFamily="34" charset="0"/>
                <a:ea typeface="Calibri" pitchFamily="34" charset="-122"/>
                <a:cs typeface="Calibri" pitchFamily="34" charset="-120"/>
              </a:rPr>
              <a:t>Écran de chargement → accueil après 2 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B2E"/>
        </a:solidFill>
      </p:bgPr>
    </p:bg>
    <p:spTree>
      <p:nvGrpSpPr>
        <p:cNvPr id="1" name=""/>
        <p:cNvGrpSpPr/>
        <p:nvPr/>
      </p:nvGrpSpPr>
      <p:grpSpPr>
        <a:xfrm>
          <a:off x="0" y="0"/>
          <a:ext cx="0" cy="0"/>
          <a:chOff x="0" y="0"/>
          <a:chExt cx="0" cy="0"/>
        </a:xfrm>
      </p:grpSpPr>
      <p:sp>
        <p:nvSpPr>
          <p:cNvPr id="2" name="Text 0"/>
          <p:cNvSpPr txBox="1"/>
          <p:nvPr/>
        </p:nvSpPr>
        <p:spPr>
          <a:xfrm>
            <a:off x="457200" y="365760"/>
            <a:ext cx="676656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Démonstration live</a:t>
            </a:r>
            <a:endParaRPr lang="en-US" sz="3200" dirty="0"/>
          </a:p>
        </p:txBody>
      </p:sp>
      <p:sp>
        <p:nvSpPr>
          <p:cNvPr id="3" name="Shape 1"/>
          <p:cNvSpPr/>
          <p:nvPr/>
        </p:nvSpPr>
        <p:spPr>
          <a:xfrm>
            <a:off x="7406640" y="228600"/>
            <a:ext cx="1280160" cy="292608"/>
          </a:xfrm>
          <a:prstGeom prst="roundRect">
            <a:avLst>
              <a:gd name="adj" fmla="val 50000"/>
            </a:avLst>
          </a:prstGeom>
          <a:solidFill>
            <a:srgbClr val="A259FF"/>
          </a:solidFill>
          <a:ln/>
        </p:spPr>
      </p:sp>
      <p:sp>
        <p:nvSpPr>
          <p:cNvPr id="4" name="Text 2"/>
          <p:cNvSpPr txBox="1"/>
          <p:nvPr/>
        </p:nvSpPr>
        <p:spPr>
          <a:xfrm>
            <a:off x="7406640" y="2286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 2</a:t>
            </a:r>
            <a:endParaRPr lang="en-US" sz="1100" dirty="0"/>
          </a:p>
        </p:txBody>
      </p:sp>
      <p:sp>
        <p:nvSpPr>
          <p:cNvPr id="6" name="Shape 3"/>
          <p:cNvSpPr/>
          <p:nvPr/>
        </p:nvSpPr>
        <p:spPr>
          <a:xfrm>
            <a:off x="457200" y="1463040"/>
            <a:ext cx="6035040" cy="594360"/>
          </a:xfrm>
          <a:prstGeom prst="roundRect">
            <a:avLst>
              <a:gd name="adj" fmla="val 23077"/>
            </a:avLst>
          </a:prstGeom>
          <a:solidFill>
            <a:srgbClr val="2E2A45"/>
          </a:solidFill>
          <a:ln/>
        </p:spPr>
      </p:sp>
      <p:sp>
        <p:nvSpPr>
          <p:cNvPr id="7" name="Shape 4"/>
          <p:cNvSpPr/>
          <p:nvPr/>
        </p:nvSpPr>
        <p:spPr>
          <a:xfrm>
            <a:off x="594360" y="1554480"/>
            <a:ext cx="411480" cy="411480"/>
          </a:xfrm>
          <a:prstGeom prst="ellipse">
            <a:avLst/>
          </a:prstGeom>
          <a:solidFill>
            <a:srgbClr val="A259FF"/>
          </a:solidFill>
          <a:ln/>
        </p:spPr>
      </p:sp>
      <p:sp>
        <p:nvSpPr>
          <p:cNvPr id="8" name="Text 5"/>
          <p:cNvSpPr txBox="1"/>
          <p:nvPr/>
        </p:nvSpPr>
        <p:spPr>
          <a:xfrm>
            <a:off x="594360" y="1554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6"/>
          <p:cNvSpPr txBox="1"/>
          <p:nvPr/>
        </p:nvSpPr>
        <p:spPr>
          <a:xfrm>
            <a:off x="1188720" y="1463040"/>
            <a:ext cx="5120640" cy="5943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Relier « Accueil » → « Recherche »</a:t>
            </a:r>
            <a:endParaRPr lang="en-US" sz="1600" dirty="0"/>
          </a:p>
        </p:txBody>
      </p:sp>
      <p:sp>
        <p:nvSpPr>
          <p:cNvPr id="10" name="Shape 7"/>
          <p:cNvSpPr/>
          <p:nvPr/>
        </p:nvSpPr>
        <p:spPr>
          <a:xfrm>
            <a:off x="457200" y="2240280"/>
            <a:ext cx="6035040" cy="594360"/>
          </a:xfrm>
          <a:prstGeom prst="roundRect">
            <a:avLst>
              <a:gd name="adj" fmla="val 23077"/>
            </a:avLst>
          </a:prstGeom>
          <a:solidFill>
            <a:srgbClr val="2E2A45"/>
          </a:solidFill>
          <a:ln/>
        </p:spPr>
      </p:sp>
      <p:sp>
        <p:nvSpPr>
          <p:cNvPr id="11" name="Shape 8"/>
          <p:cNvSpPr/>
          <p:nvPr/>
        </p:nvSpPr>
        <p:spPr>
          <a:xfrm>
            <a:off x="594360" y="2331720"/>
            <a:ext cx="411480" cy="411480"/>
          </a:xfrm>
          <a:prstGeom prst="ellipse">
            <a:avLst/>
          </a:prstGeom>
          <a:solidFill>
            <a:srgbClr val="F24E1E"/>
          </a:solidFill>
          <a:ln/>
        </p:spPr>
      </p:sp>
      <p:sp>
        <p:nvSpPr>
          <p:cNvPr id="12" name="Text 9"/>
          <p:cNvSpPr txBox="1"/>
          <p:nvPr/>
        </p:nvSpPr>
        <p:spPr>
          <a:xfrm>
            <a:off x="594360" y="23317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0"/>
          <p:cNvSpPr txBox="1"/>
          <p:nvPr/>
        </p:nvSpPr>
        <p:spPr>
          <a:xfrm>
            <a:off x="1188720" y="2240280"/>
            <a:ext cx="5120640" cy="5943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Choisir On Click → Navigate to</a:t>
            </a:r>
            <a:endParaRPr lang="en-US" sz="1600" dirty="0"/>
          </a:p>
        </p:txBody>
      </p:sp>
      <p:sp>
        <p:nvSpPr>
          <p:cNvPr id="14" name="Shape 11"/>
          <p:cNvSpPr/>
          <p:nvPr/>
        </p:nvSpPr>
        <p:spPr>
          <a:xfrm>
            <a:off x="457200" y="3017520"/>
            <a:ext cx="6035040" cy="594360"/>
          </a:xfrm>
          <a:prstGeom prst="roundRect">
            <a:avLst>
              <a:gd name="adj" fmla="val 23077"/>
            </a:avLst>
          </a:prstGeom>
          <a:solidFill>
            <a:srgbClr val="2E2A45"/>
          </a:solidFill>
          <a:ln/>
        </p:spPr>
      </p:sp>
      <p:sp>
        <p:nvSpPr>
          <p:cNvPr id="15" name="Shape 12"/>
          <p:cNvSpPr/>
          <p:nvPr/>
        </p:nvSpPr>
        <p:spPr>
          <a:xfrm>
            <a:off x="594360" y="3108960"/>
            <a:ext cx="411480" cy="411480"/>
          </a:xfrm>
          <a:prstGeom prst="ellipse">
            <a:avLst/>
          </a:prstGeom>
          <a:solidFill>
            <a:srgbClr val="1ABCFE"/>
          </a:solidFill>
          <a:ln/>
        </p:spPr>
      </p:sp>
      <p:sp>
        <p:nvSpPr>
          <p:cNvPr id="16" name="Text 13"/>
          <p:cNvSpPr txBox="1"/>
          <p:nvPr/>
        </p:nvSpPr>
        <p:spPr>
          <a:xfrm>
            <a:off x="594360" y="31089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4"/>
          <p:cNvSpPr txBox="1"/>
          <p:nvPr/>
        </p:nvSpPr>
        <p:spPr>
          <a:xfrm>
            <a:off x="1188720" y="3017520"/>
            <a:ext cx="5120640" cy="5943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Lancer l'aperçu (Play) et cliquer</a:t>
            </a:r>
            <a:endParaRPr lang="en-US" sz="1600" dirty="0"/>
          </a:p>
        </p:txBody>
      </p:sp>
      <p:sp>
        <p:nvSpPr>
          <p:cNvPr id="18" name="Shape 15"/>
          <p:cNvSpPr/>
          <p:nvPr/>
        </p:nvSpPr>
        <p:spPr>
          <a:xfrm>
            <a:off x="457200" y="3794760"/>
            <a:ext cx="6035040" cy="594360"/>
          </a:xfrm>
          <a:prstGeom prst="roundRect">
            <a:avLst>
              <a:gd name="adj" fmla="val 23077"/>
            </a:avLst>
          </a:prstGeom>
          <a:solidFill>
            <a:srgbClr val="2E2A45"/>
          </a:solidFill>
          <a:ln/>
        </p:spPr>
      </p:sp>
      <p:sp>
        <p:nvSpPr>
          <p:cNvPr id="19" name="Shape 16"/>
          <p:cNvSpPr/>
          <p:nvPr/>
        </p:nvSpPr>
        <p:spPr>
          <a:xfrm>
            <a:off x="594360" y="3886200"/>
            <a:ext cx="411480" cy="411480"/>
          </a:xfrm>
          <a:prstGeom prst="ellipse">
            <a:avLst/>
          </a:prstGeom>
          <a:solidFill>
            <a:srgbClr val="0ACF83"/>
          </a:solidFill>
          <a:ln/>
        </p:spPr>
      </p:sp>
      <p:sp>
        <p:nvSpPr>
          <p:cNvPr id="20" name="Text 17"/>
          <p:cNvSpPr txBox="1"/>
          <p:nvPr/>
        </p:nvSpPr>
        <p:spPr>
          <a:xfrm>
            <a:off x="594360"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1" name="Text 18"/>
          <p:cNvSpPr txBox="1"/>
          <p:nvPr/>
        </p:nvSpPr>
        <p:spPr>
          <a:xfrm>
            <a:off x="1188720" y="3794760"/>
            <a:ext cx="5120640" cy="5943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Ajouter While Hovering sur une carte</a:t>
            </a:r>
            <a:endParaRPr lang="en-US" sz="1600" dirty="0"/>
          </a:p>
        </p:txBody>
      </p:sp>
      <p:sp>
        <p:nvSpPr>
          <p:cNvPr id="22" name="Shape 19"/>
          <p:cNvSpPr/>
          <p:nvPr/>
        </p:nvSpPr>
        <p:spPr>
          <a:xfrm>
            <a:off x="7040880" y="1737360"/>
            <a:ext cx="1645920" cy="1645920"/>
          </a:xfrm>
          <a:prstGeom prst="ellipse">
            <a:avLst/>
          </a:prstGeom>
          <a:solidFill>
            <a:srgbClr val="A259FF"/>
          </a:solidFill>
          <a:ln/>
        </p:spPr>
      </p:sp>
      <p:sp>
        <p:nvSpPr>
          <p:cNvPr id="23" name="Text 20"/>
          <p:cNvSpPr txBox="1"/>
          <p:nvPr/>
        </p:nvSpPr>
        <p:spPr>
          <a:xfrm>
            <a:off x="7040880" y="1737360"/>
            <a:ext cx="1645920" cy="164592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24" name="Text 21"/>
          <p:cNvSpPr txBox="1"/>
          <p:nvPr/>
        </p:nvSpPr>
        <p:spPr>
          <a:xfrm>
            <a:off x="6766560" y="3520440"/>
            <a:ext cx="2194560" cy="365760"/>
          </a:xfrm>
          <a:prstGeom prst="rect">
            <a:avLst/>
          </a:prstGeom>
          <a:noFill/>
          <a:ln/>
        </p:spPr>
        <p:txBody>
          <a:bodyPr wrap="square" lIns="0" tIns="0" rIns="0" bIns="0" rtlCol="0" anchor="t"/>
          <a:lstStyle/>
          <a:p>
            <a:pPr algn="ctr" indent="0" marL="0">
              <a:buNone/>
            </a:pPr>
            <a:r>
              <a:rPr lang="en-US" sz="1600" b="1" dirty="0">
                <a:solidFill>
                  <a:srgbClr val="0ACF83"/>
                </a:solidFill>
                <a:latin typeface="Calibri" pitchFamily="34" charset="0"/>
                <a:ea typeface="Calibri" pitchFamily="34" charset="-122"/>
                <a:cs typeface="Calibri" pitchFamily="34" charset="-120"/>
              </a:rPr>
              <a:t>Ouvrir Figma</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B"/>
        </a:solidFill>
      </p:bgPr>
    </p:bg>
    <p:spTree>
      <p:nvGrpSpPr>
        <p:cNvPr id="1" name=""/>
        <p:cNvGrpSpPr/>
        <p:nvPr/>
      </p:nvGrpSpPr>
      <p:grpSpPr>
        <a:xfrm>
          <a:off x="0" y="0"/>
          <a:ext cx="0" cy="0"/>
          <a:chOff x="0" y="0"/>
          <a:chExt cx="0" cy="0"/>
        </a:xfrm>
      </p:grpSpPr>
      <p:sp>
        <p:nvSpPr>
          <p:cNvPr id="2" name="Text 0"/>
          <p:cNvSpPr txBox="1"/>
          <p:nvPr/>
        </p:nvSpPr>
        <p:spPr>
          <a:xfrm>
            <a:off x="457200" y="365760"/>
            <a:ext cx="6766560" cy="731520"/>
          </a:xfrm>
          <a:prstGeom prst="rect">
            <a:avLst/>
          </a:prstGeom>
          <a:noFill/>
          <a:ln/>
        </p:spPr>
        <p:txBody>
          <a:bodyPr wrap="square" lIns="0" tIns="0" rIns="0" bIns="0" rtlCol="0" anchor="ctr"/>
          <a:lstStyle/>
          <a:p>
            <a:pPr indent="0" marL="0">
              <a:buNone/>
            </a:pPr>
            <a:r>
              <a:rPr lang="en-US" sz="3200" b="1" dirty="0">
                <a:solidFill>
                  <a:srgbClr val="1E1B2E"/>
                </a:solidFill>
                <a:latin typeface="Cambria" pitchFamily="34" charset="0"/>
                <a:ea typeface="Cambria" pitchFamily="34" charset="-122"/>
                <a:cs typeface="Cambria" pitchFamily="34" charset="-120"/>
              </a:rPr>
              <a:t>Les transitions</a:t>
            </a:r>
            <a:endParaRPr lang="en-US" sz="3200" dirty="0"/>
          </a:p>
        </p:txBody>
      </p:sp>
      <p:sp>
        <p:nvSpPr>
          <p:cNvPr id="3" name="Shape 1"/>
          <p:cNvSpPr/>
          <p:nvPr/>
        </p:nvSpPr>
        <p:spPr>
          <a:xfrm>
            <a:off x="7406640" y="228600"/>
            <a:ext cx="1280160" cy="292608"/>
          </a:xfrm>
          <a:prstGeom prst="roundRect">
            <a:avLst>
              <a:gd name="adj" fmla="val 50000"/>
            </a:avLst>
          </a:prstGeom>
          <a:solidFill>
            <a:srgbClr val="1E1B2E"/>
          </a:solidFill>
          <a:ln/>
        </p:spPr>
      </p:sp>
      <p:sp>
        <p:nvSpPr>
          <p:cNvPr id="4" name="Text 2"/>
          <p:cNvSpPr txBox="1"/>
          <p:nvPr/>
        </p:nvSpPr>
        <p:spPr>
          <a:xfrm>
            <a:off x="7406640" y="2286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 3</a:t>
            </a:r>
            <a:endParaRPr lang="en-US" sz="1100" dirty="0"/>
          </a:p>
        </p:txBody>
      </p:sp>
      <p:sp>
        <p:nvSpPr>
          <p:cNvPr id="6" name="Shape 3"/>
          <p:cNvSpPr/>
          <p:nvPr/>
        </p:nvSpPr>
        <p:spPr>
          <a:xfrm>
            <a:off x="457200" y="1371600"/>
            <a:ext cx="1920240" cy="3017520"/>
          </a:xfrm>
          <a:prstGeom prst="roundRect">
            <a:avLst>
              <a:gd name="adj" fmla="val 5714"/>
            </a:avLst>
          </a:prstGeom>
          <a:solidFill>
            <a:srgbClr val="FFFFFF"/>
          </a:solidFill>
          <a:ln/>
          <a:effectLst>
            <a:outerShdw sx="100000" sy="100000" kx="0" ky="0" algn="bl" rotWithShape="0" blurRad="101600" dist="25400" dir="5400000">
              <a:srgbClr val="000000">
                <a:alpha val="12000"/>
              </a:srgbClr>
            </a:outerShdw>
          </a:effectLst>
        </p:spPr>
      </p:sp>
      <p:sp>
        <p:nvSpPr>
          <p:cNvPr id="7" name="Shape 4"/>
          <p:cNvSpPr/>
          <p:nvPr/>
        </p:nvSpPr>
        <p:spPr>
          <a:xfrm>
            <a:off x="1143000" y="1600200"/>
            <a:ext cx="548640" cy="548640"/>
          </a:xfrm>
          <a:prstGeom prst="ellipse">
            <a:avLst/>
          </a:prstGeom>
          <a:solidFill>
            <a:srgbClr val="6B6880"/>
          </a:solidFill>
          <a:ln/>
        </p:spPr>
      </p:sp>
      <p:sp>
        <p:nvSpPr>
          <p:cNvPr id="8" name="Text 5"/>
          <p:cNvSpPr txBox="1"/>
          <p:nvPr/>
        </p:nvSpPr>
        <p:spPr>
          <a:xfrm>
            <a:off x="548640" y="2331720"/>
            <a:ext cx="1737360" cy="365760"/>
          </a:xfrm>
          <a:prstGeom prst="rect">
            <a:avLst/>
          </a:prstGeom>
          <a:noFill/>
          <a:ln/>
        </p:spPr>
        <p:txBody>
          <a:bodyPr wrap="square" lIns="0" tIns="0" rIns="0" bIns="0" rtlCol="0" anchor="t"/>
          <a:lstStyle/>
          <a:p>
            <a:pPr algn="ctr" indent="0" marL="0">
              <a:buNone/>
            </a:pPr>
            <a:r>
              <a:rPr lang="en-US" sz="1700" b="1" dirty="0">
                <a:solidFill>
                  <a:srgbClr val="1E1B2E"/>
                </a:solidFill>
                <a:latin typeface="Cambria" pitchFamily="34" charset="0"/>
                <a:ea typeface="Cambria" pitchFamily="34" charset="-122"/>
                <a:cs typeface="Cambria" pitchFamily="34" charset="-120"/>
              </a:rPr>
              <a:t>Instant</a:t>
            </a:r>
            <a:endParaRPr lang="en-US" sz="1700" dirty="0"/>
          </a:p>
        </p:txBody>
      </p:sp>
      <p:sp>
        <p:nvSpPr>
          <p:cNvPr id="9" name="Text 6"/>
          <p:cNvSpPr txBox="1"/>
          <p:nvPr/>
        </p:nvSpPr>
        <p:spPr>
          <a:xfrm>
            <a:off x="640080" y="2788920"/>
            <a:ext cx="1554480" cy="685800"/>
          </a:xfrm>
          <a:prstGeom prst="rect">
            <a:avLst/>
          </a:prstGeom>
          <a:noFill/>
          <a:ln/>
        </p:spPr>
        <p:txBody>
          <a:bodyPr wrap="square" lIns="0" tIns="0" rIns="0" bIns="0" rtlCol="0" anchor="t"/>
          <a:lstStyle/>
          <a:p>
            <a:pPr algn="ctr" indent="0" marL="0">
              <a:buNone/>
            </a:pPr>
            <a:r>
              <a:rPr lang="en-US" sz="1300" dirty="0">
                <a:solidFill>
                  <a:srgbClr val="1E1B2E"/>
                </a:solidFill>
                <a:latin typeface="Calibri" pitchFamily="34" charset="0"/>
                <a:ea typeface="Calibri" pitchFamily="34" charset="-122"/>
                <a:cs typeface="Calibri" pitchFamily="34" charset="-120"/>
              </a:rPr>
              <a:t>Changement immédiat, sans effet</a:t>
            </a:r>
            <a:endParaRPr lang="en-US" sz="1300" dirty="0"/>
          </a:p>
        </p:txBody>
      </p:sp>
      <p:sp>
        <p:nvSpPr>
          <p:cNvPr id="10" name="Text 7"/>
          <p:cNvSpPr txBox="1"/>
          <p:nvPr/>
        </p:nvSpPr>
        <p:spPr>
          <a:xfrm>
            <a:off x="640080" y="3611880"/>
            <a:ext cx="1554480" cy="640080"/>
          </a:xfrm>
          <a:prstGeom prst="rect">
            <a:avLst/>
          </a:prstGeom>
          <a:noFill/>
          <a:ln/>
        </p:spPr>
        <p:txBody>
          <a:bodyPr wrap="square" lIns="0" tIns="0" rIns="0" bIns="0" rtlCol="0" anchor="t"/>
          <a:lstStyle/>
          <a:p>
            <a:pPr algn="ctr" indent="0" marL="0">
              <a:buNone/>
            </a:pPr>
            <a:r>
              <a:rPr lang="en-US" sz="1200" i="1" dirty="0">
                <a:solidFill>
                  <a:srgbClr val="6B6880"/>
                </a:solidFill>
                <a:latin typeface="Calibri" pitchFamily="34" charset="0"/>
                <a:ea typeface="Calibri" pitchFamily="34" charset="-122"/>
                <a:cs typeface="Calibri" pitchFamily="34" charset="-120"/>
              </a:rPr>
              <a:t>Passage direct</a:t>
            </a:r>
            <a:endParaRPr lang="en-US" sz="1200" dirty="0"/>
          </a:p>
        </p:txBody>
      </p:sp>
      <p:sp>
        <p:nvSpPr>
          <p:cNvPr id="11" name="Shape 8"/>
          <p:cNvSpPr/>
          <p:nvPr/>
        </p:nvSpPr>
        <p:spPr>
          <a:xfrm>
            <a:off x="2560320" y="1371600"/>
            <a:ext cx="1920240" cy="3017520"/>
          </a:xfrm>
          <a:prstGeom prst="roundRect">
            <a:avLst>
              <a:gd name="adj" fmla="val 5714"/>
            </a:avLst>
          </a:prstGeom>
          <a:solidFill>
            <a:srgbClr val="FFFFFF"/>
          </a:solidFill>
          <a:ln/>
          <a:effectLst>
            <a:outerShdw sx="100000" sy="100000" kx="0" ky="0" algn="bl" rotWithShape="0" blurRad="101600" dist="25400" dir="5400000">
              <a:srgbClr val="000000">
                <a:alpha val="12000"/>
              </a:srgbClr>
            </a:outerShdw>
          </a:effectLst>
        </p:spPr>
      </p:sp>
      <p:sp>
        <p:nvSpPr>
          <p:cNvPr id="12" name="Shape 9"/>
          <p:cNvSpPr/>
          <p:nvPr/>
        </p:nvSpPr>
        <p:spPr>
          <a:xfrm>
            <a:off x="3246120" y="1600200"/>
            <a:ext cx="548640" cy="548640"/>
          </a:xfrm>
          <a:prstGeom prst="ellipse">
            <a:avLst/>
          </a:prstGeom>
          <a:solidFill>
            <a:srgbClr val="1ABCFE"/>
          </a:solidFill>
          <a:ln/>
        </p:spPr>
      </p:sp>
      <p:sp>
        <p:nvSpPr>
          <p:cNvPr id="13" name="Text 10"/>
          <p:cNvSpPr txBox="1"/>
          <p:nvPr/>
        </p:nvSpPr>
        <p:spPr>
          <a:xfrm>
            <a:off x="2651760" y="2331720"/>
            <a:ext cx="1737360" cy="365760"/>
          </a:xfrm>
          <a:prstGeom prst="rect">
            <a:avLst/>
          </a:prstGeom>
          <a:noFill/>
          <a:ln/>
        </p:spPr>
        <p:txBody>
          <a:bodyPr wrap="square" lIns="0" tIns="0" rIns="0" bIns="0" rtlCol="0" anchor="t"/>
          <a:lstStyle/>
          <a:p>
            <a:pPr algn="ctr" indent="0" marL="0">
              <a:buNone/>
            </a:pPr>
            <a:r>
              <a:rPr lang="en-US" sz="1700" b="1" dirty="0">
                <a:solidFill>
                  <a:srgbClr val="1E1B2E"/>
                </a:solidFill>
                <a:latin typeface="Cambria" pitchFamily="34" charset="0"/>
                <a:ea typeface="Cambria" pitchFamily="34" charset="-122"/>
                <a:cs typeface="Cambria" pitchFamily="34" charset="-120"/>
              </a:rPr>
              <a:t>Dissolve</a:t>
            </a:r>
            <a:endParaRPr lang="en-US" sz="1700" dirty="0"/>
          </a:p>
        </p:txBody>
      </p:sp>
      <p:sp>
        <p:nvSpPr>
          <p:cNvPr id="14" name="Text 11"/>
          <p:cNvSpPr txBox="1"/>
          <p:nvPr/>
        </p:nvSpPr>
        <p:spPr>
          <a:xfrm>
            <a:off x="2743200" y="2788920"/>
            <a:ext cx="1554480" cy="685800"/>
          </a:xfrm>
          <a:prstGeom prst="rect">
            <a:avLst/>
          </a:prstGeom>
          <a:noFill/>
          <a:ln/>
        </p:spPr>
        <p:txBody>
          <a:bodyPr wrap="square" lIns="0" tIns="0" rIns="0" bIns="0" rtlCol="0" anchor="t"/>
          <a:lstStyle/>
          <a:p>
            <a:pPr algn="ctr" indent="0" marL="0">
              <a:buNone/>
            </a:pPr>
            <a:r>
              <a:rPr lang="en-US" sz="1300" dirty="0">
                <a:solidFill>
                  <a:srgbClr val="1E1B2E"/>
                </a:solidFill>
                <a:latin typeface="Calibri" pitchFamily="34" charset="0"/>
                <a:ea typeface="Calibri" pitchFamily="34" charset="-122"/>
                <a:cs typeface="Calibri" pitchFamily="34" charset="-120"/>
              </a:rPr>
              <a:t>Fondu progressif</a:t>
            </a:r>
            <a:endParaRPr lang="en-US" sz="1300" dirty="0"/>
          </a:p>
        </p:txBody>
      </p:sp>
      <p:sp>
        <p:nvSpPr>
          <p:cNvPr id="15" name="Text 12"/>
          <p:cNvSpPr txBox="1"/>
          <p:nvPr/>
        </p:nvSpPr>
        <p:spPr>
          <a:xfrm>
            <a:off x="2743200" y="3611880"/>
            <a:ext cx="1554480" cy="640080"/>
          </a:xfrm>
          <a:prstGeom prst="rect">
            <a:avLst/>
          </a:prstGeom>
          <a:noFill/>
          <a:ln/>
        </p:spPr>
        <p:txBody>
          <a:bodyPr wrap="square" lIns="0" tIns="0" rIns="0" bIns="0" rtlCol="0" anchor="t"/>
          <a:lstStyle/>
          <a:p>
            <a:pPr algn="ctr" indent="0" marL="0">
              <a:buNone/>
            </a:pPr>
            <a:r>
              <a:rPr lang="en-US" sz="1200" i="1" dirty="0">
                <a:solidFill>
                  <a:srgbClr val="6B6880"/>
                </a:solidFill>
                <a:latin typeface="Calibri" pitchFamily="34" charset="0"/>
                <a:ea typeface="Calibri" pitchFamily="34" charset="-122"/>
                <a:cs typeface="Calibri" pitchFamily="34" charset="-120"/>
              </a:rPr>
              <a:t>Connexion → accueil</a:t>
            </a:r>
            <a:endParaRPr lang="en-US" sz="1200" dirty="0"/>
          </a:p>
        </p:txBody>
      </p:sp>
      <p:sp>
        <p:nvSpPr>
          <p:cNvPr id="16" name="Shape 13"/>
          <p:cNvSpPr/>
          <p:nvPr/>
        </p:nvSpPr>
        <p:spPr>
          <a:xfrm>
            <a:off x="4663440" y="1371600"/>
            <a:ext cx="1920240" cy="3017520"/>
          </a:xfrm>
          <a:prstGeom prst="roundRect">
            <a:avLst>
              <a:gd name="adj" fmla="val 5714"/>
            </a:avLst>
          </a:prstGeom>
          <a:solidFill>
            <a:srgbClr val="FFFFFF"/>
          </a:solidFill>
          <a:ln/>
          <a:effectLst>
            <a:outerShdw sx="100000" sy="100000" kx="0" ky="0" algn="bl" rotWithShape="0" blurRad="101600" dist="25400" dir="5400000">
              <a:srgbClr val="000000">
                <a:alpha val="12000"/>
              </a:srgbClr>
            </a:outerShdw>
          </a:effectLst>
        </p:spPr>
      </p:sp>
      <p:sp>
        <p:nvSpPr>
          <p:cNvPr id="17" name="Shape 14"/>
          <p:cNvSpPr/>
          <p:nvPr/>
        </p:nvSpPr>
        <p:spPr>
          <a:xfrm>
            <a:off x="5349240" y="1600200"/>
            <a:ext cx="548640" cy="548640"/>
          </a:xfrm>
          <a:prstGeom prst="ellipse">
            <a:avLst/>
          </a:prstGeom>
          <a:solidFill>
            <a:srgbClr val="A259FF"/>
          </a:solidFill>
          <a:ln/>
        </p:spPr>
      </p:sp>
      <p:sp>
        <p:nvSpPr>
          <p:cNvPr id="18" name="Text 15"/>
          <p:cNvSpPr txBox="1"/>
          <p:nvPr/>
        </p:nvSpPr>
        <p:spPr>
          <a:xfrm>
            <a:off x="4754880" y="2331720"/>
            <a:ext cx="1737360" cy="365760"/>
          </a:xfrm>
          <a:prstGeom prst="rect">
            <a:avLst/>
          </a:prstGeom>
          <a:noFill/>
          <a:ln/>
        </p:spPr>
        <p:txBody>
          <a:bodyPr wrap="square" lIns="0" tIns="0" rIns="0" bIns="0" rtlCol="0" anchor="t"/>
          <a:lstStyle/>
          <a:p>
            <a:pPr algn="ctr" indent="0" marL="0">
              <a:buNone/>
            </a:pPr>
            <a:r>
              <a:rPr lang="en-US" sz="1700" b="1" dirty="0">
                <a:solidFill>
                  <a:srgbClr val="1E1B2E"/>
                </a:solidFill>
                <a:latin typeface="Cambria" pitchFamily="34" charset="0"/>
                <a:ea typeface="Cambria" pitchFamily="34" charset="-122"/>
                <a:cs typeface="Cambria" pitchFamily="34" charset="-120"/>
              </a:rPr>
              <a:t>Smart Animate</a:t>
            </a:r>
            <a:endParaRPr lang="en-US" sz="1700" dirty="0"/>
          </a:p>
        </p:txBody>
      </p:sp>
      <p:sp>
        <p:nvSpPr>
          <p:cNvPr id="19" name="Text 16"/>
          <p:cNvSpPr txBox="1"/>
          <p:nvPr/>
        </p:nvSpPr>
        <p:spPr>
          <a:xfrm>
            <a:off x="4846320" y="2788920"/>
            <a:ext cx="1554480" cy="685800"/>
          </a:xfrm>
          <a:prstGeom prst="rect">
            <a:avLst/>
          </a:prstGeom>
          <a:noFill/>
          <a:ln/>
        </p:spPr>
        <p:txBody>
          <a:bodyPr wrap="square" lIns="0" tIns="0" rIns="0" bIns="0" rtlCol="0" anchor="t"/>
          <a:lstStyle/>
          <a:p>
            <a:pPr algn="ctr" indent="0" marL="0">
              <a:buNone/>
            </a:pPr>
            <a:r>
              <a:rPr lang="en-US" sz="1300" dirty="0">
                <a:solidFill>
                  <a:srgbClr val="1E1B2E"/>
                </a:solidFill>
                <a:latin typeface="Calibri" pitchFamily="34" charset="0"/>
                <a:ea typeface="Calibri" pitchFamily="34" charset="-122"/>
                <a:cs typeface="Calibri" pitchFamily="34" charset="-120"/>
              </a:rPr>
              <a:t>Animation automatique entre deux états</a:t>
            </a:r>
            <a:endParaRPr lang="en-US" sz="1300" dirty="0"/>
          </a:p>
        </p:txBody>
      </p:sp>
      <p:sp>
        <p:nvSpPr>
          <p:cNvPr id="20" name="Text 17"/>
          <p:cNvSpPr txBox="1"/>
          <p:nvPr/>
        </p:nvSpPr>
        <p:spPr>
          <a:xfrm>
            <a:off x="4846320" y="3611880"/>
            <a:ext cx="1554480" cy="640080"/>
          </a:xfrm>
          <a:prstGeom prst="rect">
            <a:avLst/>
          </a:prstGeom>
          <a:noFill/>
          <a:ln/>
        </p:spPr>
        <p:txBody>
          <a:bodyPr wrap="square" lIns="0" tIns="0" rIns="0" bIns="0" rtlCol="0" anchor="t"/>
          <a:lstStyle/>
          <a:p>
            <a:pPr algn="ctr" indent="0" marL="0">
              <a:buNone/>
            </a:pPr>
            <a:r>
              <a:rPr lang="en-US" sz="1200" i="1" dirty="0">
                <a:solidFill>
                  <a:srgbClr val="6B6880"/>
                </a:solidFill>
                <a:latin typeface="Calibri" pitchFamily="34" charset="0"/>
                <a:ea typeface="Calibri" pitchFamily="34" charset="-122"/>
                <a:cs typeface="Calibri" pitchFamily="34" charset="-120"/>
              </a:rPr>
              <a:t>Bouton qui grandit et change de couleur</a:t>
            </a:r>
            <a:endParaRPr lang="en-US" sz="1200" dirty="0"/>
          </a:p>
        </p:txBody>
      </p:sp>
      <p:sp>
        <p:nvSpPr>
          <p:cNvPr id="21" name="Shape 18"/>
          <p:cNvSpPr/>
          <p:nvPr/>
        </p:nvSpPr>
        <p:spPr>
          <a:xfrm>
            <a:off x="6766560" y="1371600"/>
            <a:ext cx="1920240" cy="3017520"/>
          </a:xfrm>
          <a:prstGeom prst="roundRect">
            <a:avLst>
              <a:gd name="adj" fmla="val 5714"/>
            </a:avLst>
          </a:prstGeom>
          <a:solidFill>
            <a:srgbClr val="FFFFFF"/>
          </a:solidFill>
          <a:ln/>
          <a:effectLst>
            <a:outerShdw sx="100000" sy="100000" kx="0" ky="0" algn="bl" rotWithShape="0" blurRad="101600" dist="25400" dir="5400000">
              <a:srgbClr val="000000">
                <a:alpha val="12000"/>
              </a:srgbClr>
            </a:outerShdw>
          </a:effectLst>
        </p:spPr>
      </p:sp>
      <p:sp>
        <p:nvSpPr>
          <p:cNvPr id="22" name="Shape 19"/>
          <p:cNvSpPr/>
          <p:nvPr/>
        </p:nvSpPr>
        <p:spPr>
          <a:xfrm>
            <a:off x="7452360" y="1600200"/>
            <a:ext cx="548640" cy="548640"/>
          </a:xfrm>
          <a:prstGeom prst="ellipse">
            <a:avLst/>
          </a:prstGeom>
          <a:solidFill>
            <a:srgbClr val="0ACF83"/>
          </a:solidFill>
          <a:ln/>
        </p:spPr>
      </p:sp>
      <p:sp>
        <p:nvSpPr>
          <p:cNvPr id="23" name="Text 20"/>
          <p:cNvSpPr txBox="1"/>
          <p:nvPr/>
        </p:nvSpPr>
        <p:spPr>
          <a:xfrm>
            <a:off x="6858000" y="2331720"/>
            <a:ext cx="1737360" cy="365760"/>
          </a:xfrm>
          <a:prstGeom prst="rect">
            <a:avLst/>
          </a:prstGeom>
          <a:noFill/>
          <a:ln/>
        </p:spPr>
        <p:txBody>
          <a:bodyPr wrap="square" lIns="0" tIns="0" rIns="0" bIns="0" rtlCol="0" anchor="t"/>
          <a:lstStyle/>
          <a:p>
            <a:pPr algn="ctr" indent="0" marL="0">
              <a:buNone/>
            </a:pPr>
            <a:r>
              <a:rPr lang="en-US" sz="1700" b="1" dirty="0">
                <a:solidFill>
                  <a:srgbClr val="1E1B2E"/>
                </a:solidFill>
                <a:latin typeface="Cambria" pitchFamily="34" charset="0"/>
                <a:ea typeface="Cambria" pitchFamily="34" charset="-122"/>
                <a:cs typeface="Cambria" pitchFamily="34" charset="-120"/>
              </a:rPr>
              <a:t>Slide</a:t>
            </a:r>
            <a:endParaRPr lang="en-US" sz="1700" dirty="0"/>
          </a:p>
        </p:txBody>
      </p:sp>
      <p:sp>
        <p:nvSpPr>
          <p:cNvPr id="24" name="Text 21"/>
          <p:cNvSpPr txBox="1"/>
          <p:nvPr/>
        </p:nvSpPr>
        <p:spPr>
          <a:xfrm>
            <a:off x="6949440" y="2788920"/>
            <a:ext cx="1554480" cy="685800"/>
          </a:xfrm>
          <a:prstGeom prst="rect">
            <a:avLst/>
          </a:prstGeom>
          <a:noFill/>
          <a:ln/>
        </p:spPr>
        <p:txBody>
          <a:bodyPr wrap="square" lIns="0" tIns="0" rIns="0" bIns="0" rtlCol="0" anchor="t"/>
          <a:lstStyle/>
          <a:p>
            <a:pPr algn="ctr" indent="0" marL="0">
              <a:buNone/>
            </a:pPr>
            <a:r>
              <a:rPr lang="en-US" sz="1300" dirty="0">
                <a:solidFill>
                  <a:srgbClr val="1E1B2E"/>
                </a:solidFill>
                <a:latin typeface="Calibri" pitchFamily="34" charset="0"/>
                <a:ea typeface="Calibri" pitchFamily="34" charset="-122"/>
                <a:cs typeface="Calibri" pitchFamily="34" charset="-120"/>
              </a:rPr>
              <a:t>Glissement de l'écran</a:t>
            </a:r>
            <a:endParaRPr lang="en-US" sz="1300" dirty="0"/>
          </a:p>
        </p:txBody>
      </p:sp>
      <p:sp>
        <p:nvSpPr>
          <p:cNvPr id="25" name="Text 22"/>
          <p:cNvSpPr txBox="1"/>
          <p:nvPr/>
        </p:nvSpPr>
        <p:spPr>
          <a:xfrm>
            <a:off x="6949440" y="3611880"/>
            <a:ext cx="1554480" cy="640080"/>
          </a:xfrm>
          <a:prstGeom prst="rect">
            <a:avLst/>
          </a:prstGeom>
          <a:noFill/>
          <a:ln/>
        </p:spPr>
        <p:txBody>
          <a:bodyPr wrap="square" lIns="0" tIns="0" rIns="0" bIns="0" rtlCol="0" anchor="t"/>
          <a:lstStyle/>
          <a:p>
            <a:pPr algn="ctr" indent="0" marL="0">
              <a:buNone/>
            </a:pPr>
            <a:r>
              <a:rPr lang="en-US" sz="1200" i="1" dirty="0">
                <a:solidFill>
                  <a:srgbClr val="6B6880"/>
                </a:solidFill>
                <a:latin typeface="Calibri" pitchFamily="34" charset="0"/>
                <a:ea typeface="Calibri" pitchFamily="34" charset="-122"/>
                <a:cs typeface="Calibri" pitchFamily="34" charset="-120"/>
              </a:rPr>
              <a:t>Détail qui arrive par la droite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B"/>
        </a:solidFill>
      </p:bgPr>
    </p:bg>
    <p:spTree>
      <p:nvGrpSpPr>
        <p:cNvPr id="1" name=""/>
        <p:cNvGrpSpPr/>
        <p:nvPr/>
      </p:nvGrpSpPr>
      <p:grpSpPr>
        <a:xfrm>
          <a:off x="0" y="0"/>
          <a:ext cx="0" cy="0"/>
          <a:chOff x="0" y="0"/>
          <a:chExt cx="0" cy="0"/>
        </a:xfrm>
      </p:grpSpPr>
      <p:sp>
        <p:nvSpPr>
          <p:cNvPr id="2" name="Text 0"/>
          <p:cNvSpPr txBox="1"/>
          <p:nvPr/>
        </p:nvSpPr>
        <p:spPr>
          <a:xfrm>
            <a:off x="457200" y="365760"/>
            <a:ext cx="6766560" cy="731520"/>
          </a:xfrm>
          <a:prstGeom prst="rect">
            <a:avLst/>
          </a:prstGeom>
          <a:noFill/>
          <a:ln/>
        </p:spPr>
        <p:txBody>
          <a:bodyPr wrap="square" lIns="0" tIns="0" rIns="0" bIns="0" rtlCol="0" anchor="ctr"/>
          <a:lstStyle/>
          <a:p>
            <a:pPr indent="0" marL="0">
              <a:buNone/>
            </a:pPr>
            <a:r>
              <a:rPr lang="en-US" sz="3200" b="1" dirty="0">
                <a:solidFill>
                  <a:srgbClr val="1E1B2E"/>
                </a:solidFill>
                <a:latin typeface="Cambria" pitchFamily="34" charset="0"/>
                <a:ea typeface="Cambria" pitchFamily="34" charset="-122"/>
                <a:cs typeface="Cambria" pitchFamily="34" charset="-120"/>
              </a:rPr>
              <a:t>Smart Animate en action</a:t>
            </a:r>
            <a:endParaRPr lang="en-US" sz="3200" dirty="0"/>
          </a:p>
        </p:txBody>
      </p:sp>
      <p:sp>
        <p:nvSpPr>
          <p:cNvPr id="3" name="Shape 1"/>
          <p:cNvSpPr/>
          <p:nvPr/>
        </p:nvSpPr>
        <p:spPr>
          <a:xfrm>
            <a:off x="7406640" y="228600"/>
            <a:ext cx="1280160" cy="292608"/>
          </a:xfrm>
          <a:prstGeom prst="roundRect">
            <a:avLst>
              <a:gd name="adj" fmla="val 50000"/>
            </a:avLst>
          </a:prstGeom>
          <a:solidFill>
            <a:srgbClr val="1E1B2E"/>
          </a:solidFill>
          <a:ln/>
        </p:spPr>
      </p:sp>
      <p:sp>
        <p:nvSpPr>
          <p:cNvPr id="4" name="Text 2"/>
          <p:cNvSpPr txBox="1"/>
          <p:nvPr/>
        </p:nvSpPr>
        <p:spPr>
          <a:xfrm>
            <a:off x="7406640" y="2286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 3</a:t>
            </a:r>
            <a:endParaRPr lang="en-US" sz="1100" dirty="0"/>
          </a:p>
        </p:txBody>
      </p:sp>
      <p:sp>
        <p:nvSpPr>
          <p:cNvPr id="6" name="Shape 3"/>
          <p:cNvSpPr/>
          <p:nvPr/>
        </p:nvSpPr>
        <p:spPr>
          <a:xfrm>
            <a:off x="457200" y="1280160"/>
            <a:ext cx="8229600" cy="2194560"/>
          </a:xfrm>
          <a:prstGeom prst="roundRect">
            <a:avLst>
              <a:gd name="adj" fmla="val 5000"/>
            </a:avLst>
          </a:prstGeom>
          <a:solidFill>
            <a:srgbClr val="FFFFFF"/>
          </a:solidFill>
          <a:ln/>
          <a:effectLst>
            <a:outerShdw sx="100000" sy="100000" kx="0" ky="0" algn="bl" rotWithShape="0" blurRad="101600" dist="25400" dir="5400000">
              <a:srgbClr val="000000">
                <a:alpha val="12000"/>
              </a:srgbClr>
            </a:outerShdw>
          </a:effectLst>
        </p:spPr>
      </p:sp>
      <p:sp>
        <p:nvSpPr>
          <p:cNvPr id="7" name="Shape 4"/>
          <p:cNvSpPr/>
          <p:nvPr/>
        </p:nvSpPr>
        <p:spPr>
          <a:xfrm>
            <a:off x="822960" y="1508760"/>
            <a:ext cx="2011680" cy="1737360"/>
          </a:xfrm>
          <a:prstGeom prst="roundRect">
            <a:avLst>
              <a:gd name="adj" fmla="val 5263"/>
            </a:avLst>
          </a:prstGeom>
          <a:solidFill>
            <a:srgbClr val="FFFFFF"/>
          </a:solidFill>
          <a:ln w="19050">
            <a:solidFill>
              <a:srgbClr val="6B6880"/>
            </a:solidFill>
            <a:prstDash val="solid"/>
          </a:ln>
        </p:spPr>
      </p:sp>
      <p:sp>
        <p:nvSpPr>
          <p:cNvPr id="8" name="Shape 5"/>
          <p:cNvSpPr/>
          <p:nvPr/>
        </p:nvSpPr>
        <p:spPr>
          <a:xfrm>
            <a:off x="1188720" y="2194560"/>
            <a:ext cx="1280160" cy="365760"/>
          </a:xfrm>
          <a:prstGeom prst="roundRect">
            <a:avLst>
              <a:gd name="adj" fmla="val 50000"/>
            </a:avLst>
          </a:prstGeom>
          <a:solidFill>
            <a:srgbClr val="B8B5C8"/>
          </a:solidFill>
          <a:ln/>
        </p:spPr>
      </p:sp>
      <p:sp>
        <p:nvSpPr>
          <p:cNvPr id="9" name="Text 6"/>
          <p:cNvSpPr txBox="1"/>
          <p:nvPr/>
        </p:nvSpPr>
        <p:spPr>
          <a:xfrm>
            <a:off x="822960" y="1600200"/>
            <a:ext cx="2011680" cy="274320"/>
          </a:xfrm>
          <a:prstGeom prst="rect">
            <a:avLst/>
          </a:prstGeom>
          <a:noFill/>
          <a:ln/>
        </p:spPr>
        <p:txBody>
          <a:bodyPr wrap="square" lIns="0" tIns="0" rIns="0" bIns="0" rtlCol="0" anchor="t"/>
          <a:lstStyle/>
          <a:p>
            <a:pPr algn="ctr" indent="0" marL="0">
              <a:buNone/>
            </a:pPr>
            <a:r>
              <a:rPr lang="en-US" sz="1100" dirty="0">
                <a:solidFill>
                  <a:srgbClr val="6B6880"/>
                </a:solidFill>
                <a:latin typeface="Calibri" pitchFamily="34" charset="0"/>
                <a:ea typeface="Calibri" pitchFamily="34" charset="-122"/>
                <a:cs typeface="Calibri" pitchFamily="34" charset="-120"/>
              </a:rPr>
              <a:t>Frame A</a:t>
            </a:r>
            <a:endParaRPr lang="en-US" sz="1100" dirty="0"/>
          </a:p>
        </p:txBody>
      </p:sp>
      <p:sp>
        <p:nvSpPr>
          <p:cNvPr id="10" name="Shape 7"/>
          <p:cNvSpPr/>
          <p:nvPr/>
        </p:nvSpPr>
        <p:spPr>
          <a:xfrm>
            <a:off x="3108960" y="2377440"/>
            <a:ext cx="2011680" cy="0"/>
          </a:xfrm>
          <a:prstGeom prst="line">
            <a:avLst/>
          </a:prstGeom>
          <a:noFill/>
          <a:ln w="31750">
            <a:solidFill>
              <a:srgbClr val="A259FF"/>
            </a:solidFill>
            <a:prstDash val="solid"/>
            <a:tailEnd type="triangle"/>
          </a:ln>
        </p:spPr>
      </p:sp>
      <p:sp>
        <p:nvSpPr>
          <p:cNvPr id="11" name="Text 8"/>
          <p:cNvSpPr txBox="1"/>
          <p:nvPr/>
        </p:nvSpPr>
        <p:spPr>
          <a:xfrm>
            <a:off x="3017520" y="1965960"/>
            <a:ext cx="2194560" cy="274320"/>
          </a:xfrm>
          <a:prstGeom prst="rect">
            <a:avLst/>
          </a:prstGeom>
          <a:noFill/>
          <a:ln/>
        </p:spPr>
        <p:txBody>
          <a:bodyPr wrap="square" lIns="0" tIns="0" rIns="0" bIns="0" rtlCol="0" anchor="t"/>
          <a:lstStyle/>
          <a:p>
            <a:pPr algn="ctr" indent="0" marL="0">
              <a:buNone/>
            </a:pPr>
            <a:r>
              <a:rPr lang="en-US" sz="1300" b="1" dirty="0">
                <a:solidFill>
                  <a:srgbClr val="A259FF"/>
                </a:solidFill>
                <a:latin typeface="Calibri" pitchFamily="34" charset="0"/>
                <a:ea typeface="Calibri" pitchFamily="34" charset="-122"/>
                <a:cs typeface="Calibri" pitchFamily="34" charset="-120"/>
              </a:rPr>
              <a:t>Smart Animate · 500 ms</a:t>
            </a:r>
            <a:endParaRPr lang="en-US" sz="1300" dirty="0"/>
          </a:p>
        </p:txBody>
      </p:sp>
      <p:sp>
        <p:nvSpPr>
          <p:cNvPr id="12" name="Shape 9"/>
          <p:cNvSpPr/>
          <p:nvPr/>
        </p:nvSpPr>
        <p:spPr>
          <a:xfrm>
            <a:off x="6309360" y="1508760"/>
            <a:ext cx="2011680" cy="1737360"/>
          </a:xfrm>
          <a:prstGeom prst="roundRect">
            <a:avLst>
              <a:gd name="adj" fmla="val 5263"/>
            </a:avLst>
          </a:prstGeom>
          <a:solidFill>
            <a:srgbClr val="FFFFFF"/>
          </a:solidFill>
          <a:ln w="19050">
            <a:solidFill>
              <a:srgbClr val="0ACF83"/>
            </a:solidFill>
            <a:prstDash val="solid"/>
          </a:ln>
        </p:spPr>
      </p:sp>
      <p:sp>
        <p:nvSpPr>
          <p:cNvPr id="13" name="Shape 10"/>
          <p:cNvSpPr/>
          <p:nvPr/>
        </p:nvSpPr>
        <p:spPr>
          <a:xfrm>
            <a:off x="6492240" y="2148840"/>
            <a:ext cx="1645920" cy="502920"/>
          </a:xfrm>
          <a:prstGeom prst="roundRect">
            <a:avLst>
              <a:gd name="adj" fmla="val 49091"/>
            </a:avLst>
          </a:prstGeom>
          <a:solidFill>
            <a:srgbClr val="0ACF83"/>
          </a:solidFill>
          <a:ln/>
        </p:spPr>
      </p:sp>
      <p:sp>
        <p:nvSpPr>
          <p:cNvPr id="14" name="Text 11"/>
          <p:cNvSpPr txBox="1"/>
          <p:nvPr/>
        </p:nvSpPr>
        <p:spPr>
          <a:xfrm>
            <a:off x="6309360" y="1600200"/>
            <a:ext cx="2011680" cy="274320"/>
          </a:xfrm>
          <a:prstGeom prst="rect">
            <a:avLst/>
          </a:prstGeom>
          <a:noFill/>
          <a:ln/>
        </p:spPr>
        <p:txBody>
          <a:bodyPr wrap="square" lIns="0" tIns="0" rIns="0" bIns="0" rtlCol="0" anchor="t"/>
          <a:lstStyle/>
          <a:p>
            <a:pPr algn="ctr" indent="0" marL="0">
              <a:buNone/>
            </a:pPr>
            <a:r>
              <a:rPr lang="en-US" sz="1100" dirty="0">
                <a:solidFill>
                  <a:srgbClr val="6B6880"/>
                </a:solidFill>
                <a:latin typeface="Calibri" pitchFamily="34" charset="0"/>
                <a:ea typeface="Calibri" pitchFamily="34" charset="-122"/>
                <a:cs typeface="Calibri" pitchFamily="34" charset="-120"/>
              </a:rPr>
              <a:t>Frame B</a:t>
            </a:r>
            <a:endParaRPr lang="en-US" sz="1100" dirty="0"/>
          </a:p>
        </p:txBody>
      </p:sp>
      <p:sp>
        <p:nvSpPr>
          <p:cNvPr id="15" name="Shape 12"/>
          <p:cNvSpPr/>
          <p:nvPr/>
        </p:nvSpPr>
        <p:spPr>
          <a:xfrm>
            <a:off x="457200" y="3749040"/>
            <a:ext cx="8229600" cy="914400"/>
          </a:xfrm>
          <a:prstGeom prst="roundRect">
            <a:avLst>
              <a:gd name="adj" fmla="val 15000"/>
            </a:avLst>
          </a:prstGeom>
          <a:solidFill>
            <a:srgbClr val="1E1B2E"/>
          </a:solidFill>
          <a:ln/>
        </p:spPr>
      </p:sp>
      <p:sp>
        <p:nvSpPr>
          <p:cNvPr id="16" name="Shape 13"/>
          <p:cNvSpPr/>
          <p:nvPr/>
        </p:nvSpPr>
        <p:spPr>
          <a:xfrm>
            <a:off x="731520" y="3931920"/>
            <a:ext cx="548640" cy="548640"/>
          </a:xfrm>
          <a:prstGeom prst="ellipse">
            <a:avLst/>
          </a:prstGeom>
          <a:solidFill>
            <a:srgbClr val="F24E1E"/>
          </a:solidFill>
          <a:ln/>
        </p:spPr>
      </p:sp>
      <p:sp>
        <p:nvSpPr>
          <p:cNvPr id="17" name="Text 14"/>
          <p:cNvSpPr txBox="1"/>
          <p:nvPr/>
        </p:nvSpPr>
        <p:spPr>
          <a:xfrm>
            <a:off x="731520" y="393192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18" name="Text 15"/>
          <p:cNvSpPr txBox="1"/>
          <p:nvPr/>
        </p:nvSpPr>
        <p:spPr>
          <a:xfrm>
            <a:off x="1508760" y="3749040"/>
            <a:ext cx="694944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Règle d'or : les éléments doivent porter le même nom dans les deux Frames, sinon l'animation ne fonctionne pas.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B"/>
        </a:solidFill>
      </p:bgPr>
    </p:bg>
    <p:spTree>
      <p:nvGrpSpPr>
        <p:cNvPr id="1" name=""/>
        <p:cNvGrpSpPr/>
        <p:nvPr/>
      </p:nvGrpSpPr>
      <p:grpSpPr>
        <a:xfrm>
          <a:off x="0" y="0"/>
          <a:ext cx="0" cy="0"/>
          <a:chOff x="0" y="0"/>
          <a:chExt cx="0" cy="0"/>
        </a:xfrm>
      </p:grpSpPr>
      <p:sp>
        <p:nvSpPr>
          <p:cNvPr id="2" name="Text 0"/>
          <p:cNvSpPr txBox="1"/>
          <p:nvPr/>
        </p:nvSpPr>
        <p:spPr>
          <a:xfrm>
            <a:off x="457200" y="365760"/>
            <a:ext cx="6766560" cy="731520"/>
          </a:xfrm>
          <a:prstGeom prst="rect">
            <a:avLst/>
          </a:prstGeom>
          <a:noFill/>
          <a:ln/>
        </p:spPr>
        <p:txBody>
          <a:bodyPr wrap="square" lIns="0" tIns="0" rIns="0" bIns="0" rtlCol="0" anchor="ctr"/>
          <a:lstStyle/>
          <a:p>
            <a:pPr indent="0" marL="0">
              <a:buNone/>
            </a:pPr>
            <a:r>
              <a:rPr lang="en-US" sz="3200" b="1" dirty="0">
                <a:solidFill>
                  <a:srgbClr val="1E1B2E"/>
                </a:solidFill>
                <a:latin typeface="Cambria" pitchFamily="34" charset="0"/>
                <a:ea typeface="Cambria" pitchFamily="34" charset="-122"/>
                <a:cs typeface="Cambria" pitchFamily="34" charset="-120"/>
              </a:rPr>
              <a:t>Overlay et Scroll</a:t>
            </a:r>
            <a:endParaRPr lang="en-US" sz="3200" dirty="0"/>
          </a:p>
        </p:txBody>
      </p:sp>
      <p:sp>
        <p:nvSpPr>
          <p:cNvPr id="3" name="Shape 1"/>
          <p:cNvSpPr/>
          <p:nvPr/>
        </p:nvSpPr>
        <p:spPr>
          <a:xfrm>
            <a:off x="7406640" y="228600"/>
            <a:ext cx="1280160" cy="292608"/>
          </a:xfrm>
          <a:prstGeom prst="roundRect">
            <a:avLst>
              <a:gd name="adj" fmla="val 50000"/>
            </a:avLst>
          </a:prstGeom>
          <a:solidFill>
            <a:srgbClr val="1E1B2E"/>
          </a:solidFill>
          <a:ln/>
        </p:spPr>
      </p:sp>
      <p:sp>
        <p:nvSpPr>
          <p:cNvPr id="4" name="Text 2"/>
          <p:cNvSpPr txBox="1"/>
          <p:nvPr/>
        </p:nvSpPr>
        <p:spPr>
          <a:xfrm>
            <a:off x="7406640" y="2286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 3</a:t>
            </a:r>
            <a:endParaRPr lang="en-US" sz="1100" dirty="0"/>
          </a:p>
        </p:txBody>
      </p:sp>
      <p:sp>
        <p:nvSpPr>
          <p:cNvPr id="6" name="Shape 3"/>
          <p:cNvSpPr/>
          <p:nvPr/>
        </p:nvSpPr>
        <p:spPr>
          <a:xfrm>
            <a:off x="457200" y="1280160"/>
            <a:ext cx="3840480" cy="3291840"/>
          </a:xfrm>
          <a:prstGeom prst="roundRect">
            <a:avLst>
              <a:gd name="adj" fmla="val 3333"/>
            </a:avLst>
          </a:prstGeom>
          <a:solidFill>
            <a:srgbClr val="FFFFFF"/>
          </a:solidFill>
          <a:ln/>
          <a:effectLst>
            <a:outerShdw sx="100000" sy="100000" kx="0" ky="0" algn="bl" rotWithShape="0" blurRad="101600" dist="25400" dir="5400000">
              <a:srgbClr val="000000">
                <a:alpha val="12000"/>
              </a:srgbClr>
            </a:outerShdw>
          </a:effectLst>
        </p:spPr>
      </p:sp>
      <p:sp>
        <p:nvSpPr>
          <p:cNvPr id="7" name="Text 4"/>
          <p:cNvSpPr txBox="1"/>
          <p:nvPr/>
        </p:nvSpPr>
        <p:spPr>
          <a:xfrm>
            <a:off x="731520" y="1417320"/>
            <a:ext cx="3291840" cy="365760"/>
          </a:xfrm>
          <a:prstGeom prst="rect">
            <a:avLst/>
          </a:prstGeom>
          <a:noFill/>
          <a:ln/>
        </p:spPr>
        <p:txBody>
          <a:bodyPr wrap="square" lIns="0" tIns="0" rIns="0" bIns="0" rtlCol="0" anchor="t"/>
          <a:lstStyle/>
          <a:p>
            <a:pPr indent="0" marL="0">
              <a:buNone/>
            </a:pPr>
            <a:r>
              <a:rPr lang="en-US" sz="2200" b="1" dirty="0">
                <a:solidFill>
                  <a:srgbClr val="F24E1E"/>
                </a:solidFill>
                <a:latin typeface="Cambria" pitchFamily="34" charset="0"/>
                <a:ea typeface="Cambria" pitchFamily="34" charset="-122"/>
                <a:cs typeface="Cambria" pitchFamily="34" charset="-120"/>
              </a:rPr>
              <a:t>Overlay</a:t>
            </a:r>
            <a:endParaRPr lang="en-US" sz="2200" dirty="0"/>
          </a:p>
        </p:txBody>
      </p:sp>
      <p:sp>
        <p:nvSpPr>
          <p:cNvPr id="8" name="Shape 5"/>
          <p:cNvSpPr/>
          <p:nvPr/>
        </p:nvSpPr>
        <p:spPr>
          <a:xfrm>
            <a:off x="822960" y="1920240"/>
            <a:ext cx="1463040" cy="2103120"/>
          </a:xfrm>
          <a:prstGeom prst="roundRect">
            <a:avLst>
              <a:gd name="adj" fmla="val 6250"/>
            </a:avLst>
          </a:prstGeom>
          <a:solidFill>
            <a:srgbClr val="FFFFFF"/>
          </a:solidFill>
          <a:ln w="19050">
            <a:solidFill>
              <a:srgbClr val="6B6880"/>
            </a:solidFill>
            <a:prstDash val="solid"/>
          </a:ln>
        </p:spPr>
      </p:sp>
      <p:sp>
        <p:nvSpPr>
          <p:cNvPr id="9" name="Shape 6"/>
          <p:cNvSpPr/>
          <p:nvPr/>
        </p:nvSpPr>
        <p:spPr>
          <a:xfrm>
            <a:off x="960120" y="2560320"/>
            <a:ext cx="1188720" cy="822960"/>
          </a:xfrm>
          <a:prstGeom prst="roundRect">
            <a:avLst>
              <a:gd name="adj" fmla="val 11111"/>
            </a:avLst>
          </a:prstGeom>
          <a:solidFill>
            <a:srgbClr val="F24E1E"/>
          </a:solidFill>
          <a:ln/>
          <a:effectLst>
            <a:outerShdw sx="100000" sy="100000" kx="0" ky="0" algn="bl" rotWithShape="0" blurRad="101600" dist="25400" dir="5400000">
              <a:srgbClr val="000000">
                <a:alpha val="12000"/>
              </a:srgbClr>
            </a:outerShdw>
          </a:effectLst>
        </p:spPr>
      </p:sp>
      <p:sp>
        <p:nvSpPr>
          <p:cNvPr id="10" name="Text 7"/>
          <p:cNvSpPr txBox="1"/>
          <p:nvPr/>
        </p:nvSpPr>
        <p:spPr>
          <a:xfrm>
            <a:off x="960120" y="2560320"/>
            <a:ext cx="118872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Popup</a:t>
            </a:r>
            <a:endParaRPr lang="en-US" sz="1300" dirty="0"/>
          </a:p>
        </p:txBody>
      </p:sp>
      <p:sp>
        <p:nvSpPr>
          <p:cNvPr id="11" name="Text 8"/>
          <p:cNvSpPr txBox="1"/>
          <p:nvPr/>
        </p:nvSpPr>
        <p:spPr>
          <a:xfrm>
            <a:off x="2468880" y="2194560"/>
            <a:ext cx="1737360" cy="1097280"/>
          </a:xfrm>
          <a:prstGeom prst="rect">
            <a:avLst/>
          </a:prstGeom>
          <a:noFill/>
          <a:ln/>
        </p:spPr>
        <p:txBody>
          <a:bodyPr wrap="square" lIns="0" tIns="0" rIns="0" bIns="0" rtlCol="0" anchor="t"/>
          <a:lstStyle/>
          <a:p>
            <a:pPr indent="0" marL="0">
              <a:buNone/>
            </a:pPr>
            <a:r>
              <a:rPr lang="en-US" sz="1300" dirty="0">
                <a:solidFill>
                  <a:srgbClr val="6B6880"/>
                </a:solidFill>
                <a:latin typeface="Calibri" pitchFamily="34" charset="0"/>
                <a:ea typeface="Calibri" pitchFamily="34" charset="-122"/>
                <a:cs typeface="Calibri" pitchFamily="34" charset="-120"/>
              </a:rPr>
              <a:t>Fenêtre par-dessus l'écran :</a:t>
            </a:r>
            <a:endParaRPr lang="en-US" sz="1300" dirty="0"/>
          </a:p>
          <a:p>
            <a:pPr indent="0" marL="0">
              <a:buNone/>
            </a:pPr>
            <a:r>
              <a:rPr lang="en-US" sz="1300" dirty="0">
                <a:solidFill>
                  <a:srgbClr val="6B6880"/>
                </a:solidFill>
                <a:latin typeface="Calibri" pitchFamily="34" charset="0"/>
                <a:ea typeface="Calibri" pitchFamily="34" charset="-122"/>
                <a:cs typeface="Calibri" pitchFamily="34" charset="-120"/>
              </a:rPr>
              <a:t>filtre, confirmation…</a:t>
            </a:r>
            <a:endParaRPr lang="en-US" sz="1300" dirty="0"/>
          </a:p>
        </p:txBody>
      </p:sp>
      <p:sp>
        <p:nvSpPr>
          <p:cNvPr id="12" name="Text 9"/>
          <p:cNvSpPr txBox="1"/>
          <p:nvPr/>
        </p:nvSpPr>
        <p:spPr>
          <a:xfrm>
            <a:off x="731520" y="4160520"/>
            <a:ext cx="3291840" cy="274320"/>
          </a:xfrm>
          <a:prstGeom prst="rect">
            <a:avLst/>
          </a:prstGeom>
          <a:noFill/>
          <a:ln/>
        </p:spPr>
        <p:txBody>
          <a:bodyPr wrap="square" lIns="0" tIns="0" rIns="0" bIns="0" rtlCol="0" anchor="t"/>
          <a:lstStyle/>
          <a:p>
            <a:pPr indent="0" marL="0">
              <a:buNone/>
            </a:pPr>
            <a:r>
              <a:rPr lang="en-US" sz="1300" b="1" dirty="0">
                <a:solidFill>
                  <a:srgbClr val="1E1B2E"/>
                </a:solidFill>
                <a:latin typeface="Calibri" pitchFamily="34" charset="0"/>
                <a:ea typeface="Calibri" pitchFamily="34" charset="-122"/>
                <a:cs typeface="Calibri" pitchFamily="34" charset="-120"/>
              </a:rPr>
              <a:t>Action : Open Overlay</a:t>
            </a:r>
            <a:endParaRPr lang="en-US" sz="1300" dirty="0"/>
          </a:p>
        </p:txBody>
      </p:sp>
      <p:sp>
        <p:nvSpPr>
          <p:cNvPr id="13" name="Shape 10"/>
          <p:cNvSpPr/>
          <p:nvPr/>
        </p:nvSpPr>
        <p:spPr>
          <a:xfrm>
            <a:off x="4846320" y="1280160"/>
            <a:ext cx="3840480" cy="3291840"/>
          </a:xfrm>
          <a:prstGeom prst="roundRect">
            <a:avLst>
              <a:gd name="adj" fmla="val 3333"/>
            </a:avLst>
          </a:prstGeom>
          <a:solidFill>
            <a:srgbClr val="FFFFFF"/>
          </a:solidFill>
          <a:ln/>
          <a:effectLst>
            <a:outerShdw sx="100000" sy="100000" kx="0" ky="0" algn="bl" rotWithShape="0" blurRad="101600" dist="25400" dir="5400000">
              <a:srgbClr val="000000">
                <a:alpha val="12000"/>
              </a:srgbClr>
            </a:outerShdw>
          </a:effectLst>
        </p:spPr>
      </p:sp>
      <p:sp>
        <p:nvSpPr>
          <p:cNvPr id="14" name="Text 11"/>
          <p:cNvSpPr txBox="1"/>
          <p:nvPr/>
        </p:nvSpPr>
        <p:spPr>
          <a:xfrm>
            <a:off x="5120640" y="1417320"/>
            <a:ext cx="3291840" cy="365760"/>
          </a:xfrm>
          <a:prstGeom prst="rect">
            <a:avLst/>
          </a:prstGeom>
          <a:noFill/>
          <a:ln/>
        </p:spPr>
        <p:txBody>
          <a:bodyPr wrap="square" lIns="0" tIns="0" rIns="0" bIns="0" rtlCol="0" anchor="t"/>
          <a:lstStyle/>
          <a:p>
            <a:pPr indent="0" marL="0">
              <a:buNone/>
            </a:pPr>
            <a:r>
              <a:rPr lang="en-US" sz="2200" b="1" dirty="0">
                <a:solidFill>
                  <a:srgbClr val="0ACF83"/>
                </a:solidFill>
                <a:latin typeface="Cambria" pitchFamily="34" charset="0"/>
                <a:ea typeface="Cambria" pitchFamily="34" charset="-122"/>
                <a:cs typeface="Cambria" pitchFamily="34" charset="-120"/>
              </a:rPr>
              <a:t>Scroll</a:t>
            </a:r>
            <a:endParaRPr lang="en-US" sz="2200" dirty="0"/>
          </a:p>
        </p:txBody>
      </p:sp>
      <p:sp>
        <p:nvSpPr>
          <p:cNvPr id="15" name="Shape 12"/>
          <p:cNvSpPr/>
          <p:nvPr/>
        </p:nvSpPr>
        <p:spPr>
          <a:xfrm>
            <a:off x="5212080" y="1920240"/>
            <a:ext cx="1463040" cy="2103120"/>
          </a:xfrm>
          <a:prstGeom prst="roundRect">
            <a:avLst>
              <a:gd name="adj" fmla="val 6250"/>
            </a:avLst>
          </a:prstGeom>
          <a:solidFill>
            <a:srgbClr val="FFFFFF"/>
          </a:solidFill>
          <a:ln w="19050">
            <a:solidFill>
              <a:srgbClr val="6B6880"/>
            </a:solidFill>
            <a:prstDash val="solid"/>
          </a:ln>
        </p:spPr>
      </p:sp>
      <p:sp>
        <p:nvSpPr>
          <p:cNvPr id="16" name="Shape 13"/>
          <p:cNvSpPr/>
          <p:nvPr/>
        </p:nvSpPr>
        <p:spPr>
          <a:xfrm>
            <a:off x="5349240" y="2057400"/>
            <a:ext cx="1188720" cy="457200"/>
          </a:xfrm>
          <a:prstGeom prst="roundRect">
            <a:avLst>
              <a:gd name="adj" fmla="val 16000"/>
            </a:avLst>
          </a:prstGeom>
          <a:solidFill>
            <a:srgbClr val="0ACF83"/>
          </a:solidFill>
          <a:ln/>
        </p:spPr>
      </p:sp>
      <p:sp>
        <p:nvSpPr>
          <p:cNvPr id="17" name="Shape 14"/>
          <p:cNvSpPr/>
          <p:nvPr/>
        </p:nvSpPr>
        <p:spPr>
          <a:xfrm>
            <a:off x="5349240" y="2651760"/>
            <a:ext cx="1188720" cy="457200"/>
          </a:xfrm>
          <a:prstGeom prst="roundRect">
            <a:avLst>
              <a:gd name="adj" fmla="val 16000"/>
            </a:avLst>
          </a:prstGeom>
          <a:solidFill>
            <a:srgbClr val="0ACF83"/>
          </a:solidFill>
          <a:ln/>
        </p:spPr>
      </p:sp>
      <p:sp>
        <p:nvSpPr>
          <p:cNvPr id="18" name="Shape 15"/>
          <p:cNvSpPr/>
          <p:nvPr/>
        </p:nvSpPr>
        <p:spPr>
          <a:xfrm>
            <a:off x="5349240" y="3246120"/>
            <a:ext cx="1188720" cy="457200"/>
          </a:xfrm>
          <a:prstGeom prst="roundRect">
            <a:avLst>
              <a:gd name="adj" fmla="val 16000"/>
            </a:avLst>
          </a:prstGeom>
          <a:solidFill>
            <a:srgbClr val="D9D6E6"/>
          </a:solidFill>
          <a:ln/>
        </p:spPr>
      </p:sp>
      <p:sp>
        <p:nvSpPr>
          <p:cNvPr id="19" name="Shape 16"/>
          <p:cNvSpPr/>
          <p:nvPr/>
        </p:nvSpPr>
        <p:spPr>
          <a:xfrm>
            <a:off x="6949440" y="2103120"/>
            <a:ext cx="0" cy="1737360"/>
          </a:xfrm>
          <a:prstGeom prst="line">
            <a:avLst/>
          </a:prstGeom>
          <a:noFill/>
          <a:ln w="31750">
            <a:solidFill>
              <a:srgbClr val="0ACF83"/>
            </a:solidFill>
            <a:prstDash val="solid"/>
            <a:tailEnd type="triangle"/>
          </a:ln>
        </p:spPr>
      </p:sp>
      <p:sp>
        <p:nvSpPr>
          <p:cNvPr id="20" name="Text 17"/>
          <p:cNvSpPr txBox="1"/>
          <p:nvPr/>
        </p:nvSpPr>
        <p:spPr>
          <a:xfrm>
            <a:off x="7040880" y="2194560"/>
            <a:ext cx="1554480" cy="1097280"/>
          </a:xfrm>
          <a:prstGeom prst="rect">
            <a:avLst/>
          </a:prstGeom>
          <a:noFill/>
          <a:ln/>
        </p:spPr>
        <p:txBody>
          <a:bodyPr wrap="square" lIns="0" tIns="0" rIns="0" bIns="0" rtlCol="0" anchor="t"/>
          <a:lstStyle/>
          <a:p>
            <a:pPr indent="0" marL="0">
              <a:buNone/>
            </a:pPr>
            <a:r>
              <a:rPr lang="en-US" sz="1300" dirty="0">
                <a:solidFill>
                  <a:srgbClr val="6B6880"/>
                </a:solidFill>
                <a:latin typeface="Calibri" pitchFamily="34" charset="0"/>
                <a:ea typeface="Calibri" pitchFamily="34" charset="-122"/>
                <a:cs typeface="Calibri" pitchFamily="34" charset="-120"/>
              </a:rPr>
              <a:t>Faire défiler la liste des hôtels</a:t>
            </a:r>
            <a:endParaRPr lang="en-US" sz="1300" dirty="0"/>
          </a:p>
        </p:txBody>
      </p:sp>
      <p:sp>
        <p:nvSpPr>
          <p:cNvPr id="21" name="Text 18"/>
          <p:cNvSpPr txBox="1"/>
          <p:nvPr/>
        </p:nvSpPr>
        <p:spPr>
          <a:xfrm>
            <a:off x="5120640" y="4160520"/>
            <a:ext cx="3291840" cy="274320"/>
          </a:xfrm>
          <a:prstGeom prst="rect">
            <a:avLst/>
          </a:prstGeom>
          <a:noFill/>
          <a:ln/>
        </p:spPr>
        <p:txBody>
          <a:bodyPr wrap="square" lIns="0" tIns="0" rIns="0" bIns="0" rtlCol="0" anchor="t"/>
          <a:lstStyle/>
          <a:p>
            <a:pPr indent="0" marL="0">
              <a:buNone/>
            </a:pPr>
            <a:r>
              <a:rPr lang="en-US" sz="1300" b="1" dirty="0">
                <a:solidFill>
                  <a:srgbClr val="1E1B2E"/>
                </a:solidFill>
                <a:latin typeface="Calibri" pitchFamily="34" charset="0"/>
                <a:ea typeface="Calibri" pitchFamily="34" charset="-122"/>
                <a:cs typeface="Calibri" pitchFamily="34" charset="-120"/>
              </a:rPr>
              <a:t>Réglage : Vertical Scrolling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B"/>
        </a:solidFill>
      </p:bgPr>
    </p:bg>
    <p:spTree>
      <p:nvGrpSpPr>
        <p:cNvPr id="1" name=""/>
        <p:cNvGrpSpPr/>
        <p:nvPr/>
      </p:nvGrpSpPr>
      <p:grpSpPr>
        <a:xfrm>
          <a:off x="0" y="0"/>
          <a:ext cx="0" cy="0"/>
          <a:chOff x="0" y="0"/>
          <a:chExt cx="0" cy="0"/>
        </a:xfrm>
      </p:grpSpPr>
      <p:sp>
        <p:nvSpPr>
          <p:cNvPr id="2" name="Text 0"/>
          <p:cNvSpPr txBox="1"/>
          <p:nvPr/>
        </p:nvSpPr>
        <p:spPr>
          <a:xfrm>
            <a:off x="457200" y="365760"/>
            <a:ext cx="6766560" cy="731520"/>
          </a:xfrm>
          <a:prstGeom prst="rect">
            <a:avLst/>
          </a:prstGeom>
          <a:noFill/>
          <a:ln/>
        </p:spPr>
        <p:txBody>
          <a:bodyPr wrap="square" lIns="0" tIns="0" rIns="0" bIns="0" rtlCol="0" anchor="ctr"/>
          <a:lstStyle/>
          <a:p>
            <a:pPr indent="0" marL="0">
              <a:buNone/>
            </a:pPr>
            <a:r>
              <a:rPr lang="en-US" sz="3200" b="1" dirty="0">
                <a:solidFill>
                  <a:srgbClr val="1E1B2E"/>
                </a:solidFill>
                <a:latin typeface="Cambria" pitchFamily="34" charset="0"/>
                <a:ea typeface="Cambria" pitchFamily="34" charset="-122"/>
                <a:cs typeface="Cambria" pitchFamily="34" charset="-120"/>
              </a:rPr>
              <a:t>Tester son prototype</a:t>
            </a:r>
            <a:endParaRPr lang="en-US" sz="3200" dirty="0"/>
          </a:p>
        </p:txBody>
      </p:sp>
      <p:sp>
        <p:nvSpPr>
          <p:cNvPr id="3" name="Shape 1"/>
          <p:cNvSpPr/>
          <p:nvPr/>
        </p:nvSpPr>
        <p:spPr>
          <a:xfrm>
            <a:off x="7406640" y="228600"/>
            <a:ext cx="1280160" cy="292608"/>
          </a:xfrm>
          <a:prstGeom prst="roundRect">
            <a:avLst>
              <a:gd name="adj" fmla="val 50000"/>
            </a:avLst>
          </a:prstGeom>
          <a:solidFill>
            <a:srgbClr val="1E1B2E"/>
          </a:solidFill>
          <a:ln/>
        </p:spPr>
      </p:sp>
      <p:sp>
        <p:nvSpPr>
          <p:cNvPr id="4" name="Text 2"/>
          <p:cNvSpPr txBox="1"/>
          <p:nvPr/>
        </p:nvSpPr>
        <p:spPr>
          <a:xfrm>
            <a:off x="7406640" y="2286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 4</a:t>
            </a:r>
            <a:endParaRPr lang="en-US" sz="1100" dirty="0"/>
          </a:p>
        </p:txBody>
      </p:sp>
      <p:sp>
        <p:nvSpPr>
          <p:cNvPr id="6" name="Shape 3"/>
          <p:cNvSpPr/>
          <p:nvPr/>
        </p:nvSpPr>
        <p:spPr>
          <a:xfrm>
            <a:off x="457200" y="1325880"/>
            <a:ext cx="8229600" cy="914400"/>
          </a:xfrm>
          <a:prstGeom prst="roundRect">
            <a:avLst>
              <a:gd name="adj" fmla="val 12000"/>
            </a:avLst>
          </a:prstGeom>
          <a:solidFill>
            <a:srgbClr val="FFFFFF"/>
          </a:solidFill>
          <a:ln/>
          <a:effectLst>
            <a:outerShdw sx="100000" sy="100000" kx="0" ky="0" algn="bl" rotWithShape="0" blurRad="101600" dist="25400" dir="5400000">
              <a:srgbClr val="000000">
                <a:alpha val="12000"/>
              </a:srgbClr>
            </a:outerShdw>
          </a:effectLst>
        </p:spPr>
      </p:sp>
      <p:sp>
        <p:nvSpPr>
          <p:cNvPr id="7" name="Shape 4"/>
          <p:cNvSpPr/>
          <p:nvPr/>
        </p:nvSpPr>
        <p:spPr>
          <a:xfrm>
            <a:off x="685800" y="1463040"/>
            <a:ext cx="640080" cy="640080"/>
          </a:xfrm>
          <a:prstGeom prst="ellipse">
            <a:avLst/>
          </a:prstGeom>
          <a:solidFill>
            <a:srgbClr val="A259FF"/>
          </a:solidFill>
          <a:ln/>
        </p:spPr>
      </p:sp>
      <p:sp>
        <p:nvSpPr>
          <p:cNvPr id="8" name="Text 5"/>
          <p:cNvSpPr txBox="1"/>
          <p:nvPr/>
        </p:nvSpPr>
        <p:spPr>
          <a:xfrm>
            <a:off x="685800" y="14630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9" name="Text 6"/>
          <p:cNvSpPr txBox="1"/>
          <p:nvPr/>
        </p:nvSpPr>
        <p:spPr>
          <a:xfrm>
            <a:off x="1645920" y="1417320"/>
            <a:ext cx="6766560" cy="365760"/>
          </a:xfrm>
          <a:prstGeom prst="rect">
            <a:avLst/>
          </a:prstGeom>
          <a:noFill/>
          <a:ln/>
        </p:spPr>
        <p:txBody>
          <a:bodyPr wrap="square" lIns="0" tIns="0" rIns="0" bIns="0" rtlCol="0" anchor="t"/>
          <a:lstStyle/>
          <a:p>
            <a:pPr indent="0" marL="0">
              <a:buNone/>
            </a:pPr>
            <a:r>
              <a:rPr lang="en-US" sz="2000" b="1" dirty="0">
                <a:solidFill>
                  <a:srgbClr val="1E1B2E"/>
                </a:solidFill>
                <a:latin typeface="Cambria" pitchFamily="34" charset="0"/>
                <a:ea typeface="Cambria" pitchFamily="34" charset="-122"/>
                <a:cs typeface="Cambria" pitchFamily="34" charset="-120"/>
              </a:rPr>
              <a:t>Lancer l'aperçu</a:t>
            </a:r>
            <a:endParaRPr lang="en-US" sz="2000" dirty="0"/>
          </a:p>
        </p:txBody>
      </p:sp>
      <p:sp>
        <p:nvSpPr>
          <p:cNvPr id="10" name="Text 7"/>
          <p:cNvSpPr txBox="1"/>
          <p:nvPr/>
        </p:nvSpPr>
        <p:spPr>
          <a:xfrm>
            <a:off x="1645920" y="1801368"/>
            <a:ext cx="6766560" cy="320040"/>
          </a:xfrm>
          <a:prstGeom prst="rect">
            <a:avLst/>
          </a:prstGeom>
          <a:noFill/>
          <a:ln/>
        </p:spPr>
        <p:txBody>
          <a:bodyPr wrap="square" lIns="0" tIns="0" rIns="0" bIns="0" rtlCol="0" anchor="t"/>
          <a:lstStyle/>
          <a:p>
            <a:pPr indent="0" marL="0">
              <a:buNone/>
            </a:pPr>
            <a:r>
              <a:rPr lang="en-US" sz="1400" dirty="0">
                <a:solidFill>
                  <a:srgbClr val="6B6880"/>
                </a:solidFill>
                <a:latin typeface="Calibri" pitchFamily="34" charset="0"/>
                <a:ea typeface="Calibri" pitchFamily="34" charset="-122"/>
                <a:cs typeface="Calibri" pitchFamily="34" charset="-120"/>
              </a:rPr>
              <a:t>Bouton Play, en haut à droite de Figma</a:t>
            </a:r>
            <a:endParaRPr lang="en-US" sz="1400" dirty="0"/>
          </a:p>
        </p:txBody>
      </p:sp>
      <p:sp>
        <p:nvSpPr>
          <p:cNvPr id="11" name="Shape 8"/>
          <p:cNvSpPr/>
          <p:nvPr/>
        </p:nvSpPr>
        <p:spPr>
          <a:xfrm>
            <a:off x="457200" y="2423160"/>
            <a:ext cx="8229600" cy="914400"/>
          </a:xfrm>
          <a:prstGeom prst="roundRect">
            <a:avLst>
              <a:gd name="adj" fmla="val 12000"/>
            </a:avLst>
          </a:prstGeom>
          <a:solidFill>
            <a:srgbClr val="FFFFFF"/>
          </a:solidFill>
          <a:ln/>
          <a:effectLst>
            <a:outerShdw sx="100000" sy="100000" kx="0" ky="0" algn="bl" rotWithShape="0" blurRad="101600" dist="25400" dir="5400000">
              <a:srgbClr val="000000">
                <a:alpha val="12000"/>
              </a:srgbClr>
            </a:outerShdw>
          </a:effectLst>
        </p:spPr>
      </p:sp>
      <p:sp>
        <p:nvSpPr>
          <p:cNvPr id="12" name="Shape 9"/>
          <p:cNvSpPr/>
          <p:nvPr/>
        </p:nvSpPr>
        <p:spPr>
          <a:xfrm>
            <a:off x="685800" y="2560320"/>
            <a:ext cx="640080" cy="640080"/>
          </a:xfrm>
          <a:prstGeom prst="ellipse">
            <a:avLst/>
          </a:prstGeom>
          <a:solidFill>
            <a:srgbClr val="1ABCFE"/>
          </a:solidFill>
          <a:ln/>
        </p:spPr>
      </p:sp>
      <p:sp>
        <p:nvSpPr>
          <p:cNvPr id="13" name="Text 10"/>
          <p:cNvSpPr txBox="1"/>
          <p:nvPr/>
        </p:nvSpPr>
        <p:spPr>
          <a:xfrm>
            <a:off x="685800" y="256032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14" name="Text 11"/>
          <p:cNvSpPr txBox="1"/>
          <p:nvPr/>
        </p:nvSpPr>
        <p:spPr>
          <a:xfrm>
            <a:off x="1645920" y="2514600"/>
            <a:ext cx="6766560" cy="365760"/>
          </a:xfrm>
          <a:prstGeom prst="rect">
            <a:avLst/>
          </a:prstGeom>
          <a:noFill/>
          <a:ln/>
        </p:spPr>
        <p:txBody>
          <a:bodyPr wrap="square" lIns="0" tIns="0" rIns="0" bIns="0" rtlCol="0" anchor="t"/>
          <a:lstStyle/>
          <a:p>
            <a:pPr indent="0" marL="0">
              <a:buNone/>
            </a:pPr>
            <a:r>
              <a:rPr lang="en-US" sz="2000" b="1" dirty="0">
                <a:solidFill>
                  <a:srgbClr val="1E1B2E"/>
                </a:solidFill>
                <a:latin typeface="Cambria" pitchFamily="34" charset="0"/>
                <a:ea typeface="Cambria" pitchFamily="34" charset="-122"/>
                <a:cs typeface="Cambria" pitchFamily="34" charset="-120"/>
              </a:rPr>
              <a:t>Choisir l'appareil</a:t>
            </a:r>
            <a:endParaRPr lang="en-US" sz="2000" dirty="0"/>
          </a:p>
        </p:txBody>
      </p:sp>
      <p:sp>
        <p:nvSpPr>
          <p:cNvPr id="15" name="Text 12"/>
          <p:cNvSpPr txBox="1"/>
          <p:nvPr/>
        </p:nvSpPr>
        <p:spPr>
          <a:xfrm>
            <a:off x="1645920" y="2898648"/>
            <a:ext cx="6766560" cy="320040"/>
          </a:xfrm>
          <a:prstGeom prst="rect">
            <a:avLst/>
          </a:prstGeom>
          <a:noFill/>
          <a:ln/>
        </p:spPr>
        <p:txBody>
          <a:bodyPr wrap="square" lIns="0" tIns="0" rIns="0" bIns="0" rtlCol="0" anchor="t"/>
          <a:lstStyle/>
          <a:p>
            <a:pPr indent="0" marL="0">
              <a:buNone/>
            </a:pPr>
            <a:r>
              <a:rPr lang="en-US" sz="1400" dirty="0">
                <a:solidFill>
                  <a:srgbClr val="6B6880"/>
                </a:solidFill>
                <a:latin typeface="Calibri" pitchFamily="34" charset="0"/>
                <a:ea typeface="Calibri" pitchFamily="34" charset="-122"/>
                <a:cs typeface="Calibri" pitchFamily="34" charset="-120"/>
              </a:rPr>
              <a:t>iPhone, Android… pour voir les vraies dimensions</a:t>
            </a:r>
            <a:endParaRPr lang="en-US" sz="1400" dirty="0"/>
          </a:p>
        </p:txBody>
      </p:sp>
      <p:sp>
        <p:nvSpPr>
          <p:cNvPr id="16" name="Shape 13"/>
          <p:cNvSpPr/>
          <p:nvPr/>
        </p:nvSpPr>
        <p:spPr>
          <a:xfrm>
            <a:off x="457200" y="3520440"/>
            <a:ext cx="8229600" cy="914400"/>
          </a:xfrm>
          <a:prstGeom prst="roundRect">
            <a:avLst>
              <a:gd name="adj" fmla="val 12000"/>
            </a:avLst>
          </a:prstGeom>
          <a:solidFill>
            <a:srgbClr val="FFFFFF"/>
          </a:solidFill>
          <a:ln/>
          <a:effectLst>
            <a:outerShdw sx="100000" sy="100000" kx="0" ky="0" algn="bl" rotWithShape="0" blurRad="101600" dist="25400" dir="5400000">
              <a:srgbClr val="000000">
                <a:alpha val="12000"/>
              </a:srgbClr>
            </a:outerShdw>
          </a:effectLst>
        </p:spPr>
      </p:sp>
      <p:sp>
        <p:nvSpPr>
          <p:cNvPr id="17" name="Shape 14"/>
          <p:cNvSpPr/>
          <p:nvPr/>
        </p:nvSpPr>
        <p:spPr>
          <a:xfrm>
            <a:off x="685800" y="3657600"/>
            <a:ext cx="640080" cy="640080"/>
          </a:xfrm>
          <a:prstGeom prst="ellipse">
            <a:avLst/>
          </a:prstGeom>
          <a:solidFill>
            <a:srgbClr val="0ACF83"/>
          </a:solidFill>
          <a:ln/>
        </p:spPr>
      </p:sp>
      <p:sp>
        <p:nvSpPr>
          <p:cNvPr id="18" name="Text 15"/>
          <p:cNvSpPr txBox="1"/>
          <p:nvPr/>
        </p:nvSpPr>
        <p:spPr>
          <a:xfrm>
            <a:off x="685800" y="36576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19" name="Text 16"/>
          <p:cNvSpPr txBox="1"/>
          <p:nvPr/>
        </p:nvSpPr>
        <p:spPr>
          <a:xfrm>
            <a:off x="1645920" y="3611880"/>
            <a:ext cx="6766560" cy="365760"/>
          </a:xfrm>
          <a:prstGeom prst="rect">
            <a:avLst/>
          </a:prstGeom>
          <a:noFill/>
          <a:ln/>
        </p:spPr>
        <p:txBody>
          <a:bodyPr wrap="square" lIns="0" tIns="0" rIns="0" bIns="0" rtlCol="0" anchor="t"/>
          <a:lstStyle/>
          <a:p>
            <a:pPr indent="0" marL="0">
              <a:buNone/>
            </a:pPr>
            <a:r>
              <a:rPr lang="en-US" sz="2000" b="1" dirty="0">
                <a:solidFill>
                  <a:srgbClr val="1E1B2E"/>
                </a:solidFill>
                <a:latin typeface="Cambria" pitchFamily="34" charset="0"/>
                <a:ea typeface="Cambria" pitchFamily="34" charset="-122"/>
                <a:cs typeface="Cambria" pitchFamily="34" charset="-120"/>
              </a:rPr>
              <a:t>Tester le parcours complet</a:t>
            </a:r>
            <a:endParaRPr lang="en-US" sz="2000" dirty="0"/>
          </a:p>
        </p:txBody>
      </p:sp>
      <p:sp>
        <p:nvSpPr>
          <p:cNvPr id="20" name="Text 17"/>
          <p:cNvSpPr txBox="1"/>
          <p:nvPr/>
        </p:nvSpPr>
        <p:spPr>
          <a:xfrm>
            <a:off x="1645920" y="3995928"/>
            <a:ext cx="6766560" cy="320040"/>
          </a:xfrm>
          <a:prstGeom prst="rect">
            <a:avLst/>
          </a:prstGeom>
          <a:noFill/>
          <a:ln/>
        </p:spPr>
        <p:txBody>
          <a:bodyPr wrap="square" lIns="0" tIns="0" rIns="0" bIns="0" rtlCol="0" anchor="t"/>
          <a:lstStyle/>
          <a:p>
            <a:pPr indent="0" marL="0">
              <a:buNone/>
            </a:pPr>
            <a:r>
              <a:rPr lang="en-US" sz="1400" dirty="0">
                <a:solidFill>
                  <a:srgbClr val="6B6880"/>
                </a:solidFill>
                <a:latin typeface="Calibri" pitchFamily="34" charset="0"/>
                <a:ea typeface="Calibri" pitchFamily="34" charset="-122"/>
                <a:cs typeface="Calibri" pitchFamily="34" charset="-120"/>
              </a:rPr>
              <a:t>Boutons, transitions, retour en arrière</a:t>
            </a:r>
            <a:endParaRPr lang="en-US" sz="1400" dirty="0"/>
          </a:p>
        </p:txBody>
      </p:sp>
      <p:sp>
        <p:nvSpPr>
          <p:cNvPr id="21" name="Text 18"/>
          <p:cNvSpPr txBox="1"/>
          <p:nvPr/>
        </p:nvSpPr>
        <p:spPr>
          <a:xfrm>
            <a:off x="457200" y="4617720"/>
            <a:ext cx="8229600" cy="274320"/>
          </a:xfrm>
          <a:prstGeom prst="rect">
            <a:avLst/>
          </a:prstGeom>
          <a:noFill/>
          <a:ln/>
        </p:spPr>
        <p:txBody>
          <a:bodyPr wrap="square" lIns="0" tIns="0" rIns="0" bIns="0" rtlCol="0" anchor="t"/>
          <a:lstStyle/>
          <a:p>
            <a:pPr indent="0" marL="0">
              <a:buNone/>
            </a:pPr>
            <a:r>
              <a:rPr lang="en-US" sz="1400" i="1" dirty="0">
                <a:solidFill>
                  <a:srgbClr val="6B6880"/>
                </a:solidFill>
                <a:latin typeface="Calibri" pitchFamily="34" charset="0"/>
                <a:ea typeface="Calibri" pitchFamily="34" charset="-122"/>
                <a:cs typeface="Calibri" pitchFamily="34" charset="-120"/>
              </a:rPr>
              <a:t>Se poser la question : un vrai utilisateur s'en sortirait-il ?</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B"/>
        </a:solidFill>
      </p:bgPr>
    </p:bg>
    <p:spTree>
      <p:nvGrpSpPr>
        <p:cNvPr id="1" name=""/>
        <p:cNvGrpSpPr/>
        <p:nvPr/>
      </p:nvGrpSpPr>
      <p:grpSpPr>
        <a:xfrm>
          <a:off x="0" y="0"/>
          <a:ext cx="0" cy="0"/>
          <a:chOff x="0" y="0"/>
          <a:chExt cx="0" cy="0"/>
        </a:xfrm>
      </p:grpSpPr>
      <p:sp>
        <p:nvSpPr>
          <p:cNvPr id="2" name="Text 0"/>
          <p:cNvSpPr txBox="1"/>
          <p:nvPr/>
        </p:nvSpPr>
        <p:spPr>
          <a:xfrm>
            <a:off x="457200" y="365760"/>
            <a:ext cx="6766560" cy="731520"/>
          </a:xfrm>
          <a:prstGeom prst="rect">
            <a:avLst/>
          </a:prstGeom>
          <a:noFill/>
          <a:ln/>
        </p:spPr>
        <p:txBody>
          <a:bodyPr wrap="square" lIns="0" tIns="0" rIns="0" bIns="0" rtlCol="0" anchor="ctr"/>
          <a:lstStyle/>
          <a:p>
            <a:pPr indent="0" marL="0">
              <a:buNone/>
            </a:pPr>
            <a:r>
              <a:rPr lang="en-US" sz="3200" b="1" dirty="0">
                <a:solidFill>
                  <a:srgbClr val="1E1B2E"/>
                </a:solidFill>
                <a:latin typeface="Cambria" pitchFamily="34" charset="0"/>
                <a:ea typeface="Cambria" pitchFamily="34" charset="-122"/>
                <a:cs typeface="Cambria" pitchFamily="34" charset="-120"/>
              </a:rPr>
              <a:t>Partager et recueillir des retours</a:t>
            </a:r>
            <a:endParaRPr lang="en-US" sz="3200" dirty="0"/>
          </a:p>
        </p:txBody>
      </p:sp>
      <p:sp>
        <p:nvSpPr>
          <p:cNvPr id="3" name="Shape 1"/>
          <p:cNvSpPr/>
          <p:nvPr/>
        </p:nvSpPr>
        <p:spPr>
          <a:xfrm>
            <a:off x="7406640" y="228600"/>
            <a:ext cx="1280160" cy="292608"/>
          </a:xfrm>
          <a:prstGeom prst="roundRect">
            <a:avLst>
              <a:gd name="adj" fmla="val 50000"/>
            </a:avLst>
          </a:prstGeom>
          <a:solidFill>
            <a:srgbClr val="1E1B2E"/>
          </a:solidFill>
          <a:ln/>
        </p:spPr>
      </p:sp>
      <p:sp>
        <p:nvSpPr>
          <p:cNvPr id="4" name="Text 2"/>
          <p:cNvSpPr txBox="1"/>
          <p:nvPr/>
        </p:nvSpPr>
        <p:spPr>
          <a:xfrm>
            <a:off x="7406640" y="2286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 4</a:t>
            </a:r>
            <a:endParaRPr lang="en-US" sz="1100" dirty="0"/>
          </a:p>
        </p:txBody>
      </p:sp>
      <p:sp>
        <p:nvSpPr>
          <p:cNvPr id="6" name="Shape 3"/>
          <p:cNvSpPr/>
          <p:nvPr/>
        </p:nvSpPr>
        <p:spPr>
          <a:xfrm>
            <a:off x="457200" y="1371600"/>
            <a:ext cx="548640" cy="548640"/>
          </a:xfrm>
          <a:prstGeom prst="ellipse">
            <a:avLst/>
          </a:prstGeom>
          <a:solidFill>
            <a:srgbClr val="1ABCFE"/>
          </a:solidFill>
          <a:ln/>
        </p:spPr>
      </p:sp>
      <p:sp>
        <p:nvSpPr>
          <p:cNvPr id="7" name="Text 4"/>
          <p:cNvSpPr txBox="1"/>
          <p:nvPr/>
        </p:nvSpPr>
        <p:spPr>
          <a:xfrm>
            <a:off x="457200" y="1371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5"/>
          <p:cNvSpPr txBox="1"/>
          <p:nvPr/>
        </p:nvSpPr>
        <p:spPr>
          <a:xfrm>
            <a:off x="1188720" y="1371600"/>
            <a:ext cx="3291840" cy="548640"/>
          </a:xfrm>
          <a:prstGeom prst="rect">
            <a:avLst/>
          </a:prstGeom>
          <a:noFill/>
          <a:ln/>
        </p:spPr>
        <p:txBody>
          <a:bodyPr wrap="square" lIns="0" tIns="0" rIns="0" bIns="0" rtlCol="0" anchor="ctr"/>
          <a:lstStyle/>
          <a:p>
            <a:pPr indent="0" marL="0">
              <a:buNone/>
            </a:pPr>
            <a:r>
              <a:rPr lang="en-US" sz="1600" dirty="0">
                <a:solidFill>
                  <a:srgbClr val="1E1B2E"/>
                </a:solidFill>
                <a:latin typeface="Calibri" pitchFamily="34" charset="0"/>
                <a:ea typeface="Calibri" pitchFamily="34" charset="-122"/>
                <a:cs typeface="Calibri" pitchFamily="34" charset="-120"/>
              </a:rPr>
              <a:t>Cliquer sur Share</a:t>
            </a:r>
            <a:endParaRPr lang="en-US" sz="1600" dirty="0"/>
          </a:p>
        </p:txBody>
      </p:sp>
      <p:sp>
        <p:nvSpPr>
          <p:cNvPr id="9" name="Shape 6"/>
          <p:cNvSpPr/>
          <p:nvPr/>
        </p:nvSpPr>
        <p:spPr>
          <a:xfrm>
            <a:off x="457200" y="2240280"/>
            <a:ext cx="548640" cy="548640"/>
          </a:xfrm>
          <a:prstGeom prst="ellipse">
            <a:avLst/>
          </a:prstGeom>
          <a:solidFill>
            <a:srgbClr val="1ABCFE"/>
          </a:solidFill>
          <a:ln/>
        </p:spPr>
      </p:sp>
      <p:sp>
        <p:nvSpPr>
          <p:cNvPr id="10" name="Text 7"/>
          <p:cNvSpPr txBox="1"/>
          <p:nvPr/>
        </p:nvSpPr>
        <p:spPr>
          <a:xfrm>
            <a:off x="457200" y="22402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1188720" y="2240280"/>
            <a:ext cx="3291840" cy="548640"/>
          </a:xfrm>
          <a:prstGeom prst="rect">
            <a:avLst/>
          </a:prstGeom>
          <a:noFill/>
          <a:ln/>
        </p:spPr>
        <p:txBody>
          <a:bodyPr wrap="square" lIns="0" tIns="0" rIns="0" bIns="0" rtlCol="0" anchor="ctr"/>
          <a:lstStyle/>
          <a:p>
            <a:pPr indent="0" marL="0">
              <a:buNone/>
            </a:pPr>
            <a:r>
              <a:rPr lang="en-US" sz="1600" dirty="0">
                <a:solidFill>
                  <a:srgbClr val="1E1B2E"/>
                </a:solidFill>
                <a:latin typeface="Calibri" pitchFamily="34" charset="0"/>
                <a:ea typeface="Calibri" pitchFamily="34" charset="-122"/>
                <a:cs typeface="Calibri" pitchFamily="34" charset="-120"/>
              </a:rPr>
              <a:t>Copier le lien du prototype</a:t>
            </a:r>
            <a:endParaRPr lang="en-US" sz="1600" dirty="0"/>
          </a:p>
        </p:txBody>
      </p:sp>
      <p:sp>
        <p:nvSpPr>
          <p:cNvPr id="12" name="Shape 9"/>
          <p:cNvSpPr/>
          <p:nvPr/>
        </p:nvSpPr>
        <p:spPr>
          <a:xfrm>
            <a:off x="457200" y="3108960"/>
            <a:ext cx="548640" cy="548640"/>
          </a:xfrm>
          <a:prstGeom prst="ellipse">
            <a:avLst/>
          </a:prstGeom>
          <a:solidFill>
            <a:srgbClr val="1ABCFE"/>
          </a:solidFill>
          <a:ln/>
        </p:spPr>
      </p:sp>
      <p:sp>
        <p:nvSpPr>
          <p:cNvPr id="13" name="Text 10"/>
          <p:cNvSpPr txBox="1"/>
          <p:nvPr/>
        </p:nvSpPr>
        <p:spPr>
          <a:xfrm>
            <a:off x="457200" y="3108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1"/>
          <p:cNvSpPr txBox="1"/>
          <p:nvPr/>
        </p:nvSpPr>
        <p:spPr>
          <a:xfrm>
            <a:off x="1188720" y="3108960"/>
            <a:ext cx="3291840" cy="548640"/>
          </a:xfrm>
          <a:prstGeom prst="rect">
            <a:avLst/>
          </a:prstGeom>
          <a:noFill/>
          <a:ln/>
        </p:spPr>
        <p:txBody>
          <a:bodyPr wrap="square" lIns="0" tIns="0" rIns="0" bIns="0" rtlCol="0" anchor="ctr"/>
          <a:lstStyle/>
          <a:p>
            <a:pPr indent="0" marL="0">
              <a:buNone/>
            </a:pPr>
            <a:r>
              <a:rPr lang="en-US" sz="1600" dirty="0">
                <a:solidFill>
                  <a:srgbClr val="1E1B2E"/>
                </a:solidFill>
                <a:latin typeface="Calibri" pitchFamily="34" charset="0"/>
                <a:ea typeface="Calibri" pitchFamily="34" charset="-122"/>
                <a:cs typeface="Calibri" pitchFamily="34" charset="-120"/>
              </a:rPr>
              <a:t>Choisir : lecture seule ou commentaire</a:t>
            </a:r>
            <a:endParaRPr lang="en-US" sz="1600" dirty="0"/>
          </a:p>
        </p:txBody>
      </p:sp>
      <p:sp>
        <p:nvSpPr>
          <p:cNvPr id="15" name="Shape 12"/>
          <p:cNvSpPr/>
          <p:nvPr/>
        </p:nvSpPr>
        <p:spPr>
          <a:xfrm>
            <a:off x="457200" y="3977640"/>
            <a:ext cx="548640" cy="548640"/>
          </a:xfrm>
          <a:prstGeom prst="ellipse">
            <a:avLst/>
          </a:prstGeom>
          <a:solidFill>
            <a:srgbClr val="1ABCFE"/>
          </a:solidFill>
          <a:ln/>
        </p:spPr>
      </p:sp>
      <p:sp>
        <p:nvSpPr>
          <p:cNvPr id="16" name="Text 13"/>
          <p:cNvSpPr txBox="1"/>
          <p:nvPr/>
        </p:nvSpPr>
        <p:spPr>
          <a:xfrm>
            <a:off x="457200" y="3977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7" name="Text 14"/>
          <p:cNvSpPr txBox="1"/>
          <p:nvPr/>
        </p:nvSpPr>
        <p:spPr>
          <a:xfrm>
            <a:off x="1188720" y="3977640"/>
            <a:ext cx="3291840" cy="548640"/>
          </a:xfrm>
          <a:prstGeom prst="rect">
            <a:avLst/>
          </a:prstGeom>
          <a:noFill/>
          <a:ln/>
        </p:spPr>
        <p:txBody>
          <a:bodyPr wrap="square" lIns="0" tIns="0" rIns="0" bIns="0" rtlCol="0" anchor="ctr"/>
          <a:lstStyle/>
          <a:p>
            <a:pPr indent="0" marL="0">
              <a:buNone/>
            </a:pPr>
            <a:r>
              <a:rPr lang="en-US" sz="1600" dirty="0">
                <a:solidFill>
                  <a:srgbClr val="1E1B2E"/>
                </a:solidFill>
                <a:latin typeface="Calibri" pitchFamily="34" charset="0"/>
                <a:ea typeface="Calibri" pitchFamily="34" charset="-122"/>
                <a:cs typeface="Calibri" pitchFamily="34" charset="-120"/>
              </a:rPr>
              <a:t>Corriger : le lien se met à jour seul</a:t>
            </a:r>
            <a:endParaRPr lang="en-US" sz="1600" dirty="0"/>
          </a:p>
        </p:txBody>
      </p:sp>
      <p:sp>
        <p:nvSpPr>
          <p:cNvPr id="18" name="Shape 15"/>
          <p:cNvSpPr/>
          <p:nvPr/>
        </p:nvSpPr>
        <p:spPr>
          <a:xfrm>
            <a:off x="4846320" y="1280160"/>
            <a:ext cx="3840480" cy="3200400"/>
          </a:xfrm>
          <a:prstGeom prst="roundRect">
            <a:avLst>
              <a:gd name="adj" fmla="val 3429"/>
            </a:avLst>
          </a:prstGeom>
          <a:solidFill>
            <a:srgbClr val="FFFFFF"/>
          </a:solidFill>
          <a:ln/>
          <a:effectLst>
            <a:outerShdw sx="100000" sy="100000" kx="0" ky="0" algn="bl" rotWithShape="0" blurRad="101600" dist="25400" dir="5400000">
              <a:srgbClr val="000000">
                <a:alpha val="12000"/>
              </a:srgbClr>
            </a:outerShdw>
          </a:effectLst>
        </p:spPr>
      </p:sp>
      <p:sp>
        <p:nvSpPr>
          <p:cNvPr id="19" name="Shape 16"/>
          <p:cNvSpPr/>
          <p:nvPr/>
        </p:nvSpPr>
        <p:spPr>
          <a:xfrm>
            <a:off x="5120640" y="1554480"/>
            <a:ext cx="3291840" cy="457200"/>
          </a:xfrm>
          <a:prstGeom prst="roundRect">
            <a:avLst>
              <a:gd name="adj" fmla="val 50000"/>
            </a:avLst>
          </a:prstGeom>
          <a:solidFill>
            <a:srgbClr val="F7F6FB"/>
          </a:solidFill>
          <a:ln w="19050">
            <a:solidFill>
              <a:srgbClr val="1ABCFE"/>
            </a:solidFill>
            <a:prstDash val="solid"/>
          </a:ln>
        </p:spPr>
      </p:sp>
      <p:sp>
        <p:nvSpPr>
          <p:cNvPr id="20" name="Text 17"/>
          <p:cNvSpPr txBox="1"/>
          <p:nvPr/>
        </p:nvSpPr>
        <p:spPr>
          <a:xfrm>
            <a:off x="5303520" y="1554480"/>
            <a:ext cx="1828800" cy="457200"/>
          </a:xfrm>
          <a:prstGeom prst="rect">
            <a:avLst/>
          </a:prstGeom>
          <a:noFill/>
          <a:ln/>
        </p:spPr>
        <p:txBody>
          <a:bodyPr wrap="square" lIns="0" tIns="0" rIns="0" bIns="0" rtlCol="0" anchor="ctr"/>
          <a:lstStyle/>
          <a:p>
            <a:pPr indent="0" marL="0">
              <a:buNone/>
            </a:pPr>
            <a:r>
              <a:rPr lang="en-US" sz="1200" dirty="0">
                <a:solidFill>
                  <a:srgbClr val="6B6880"/>
                </a:solidFill>
                <a:latin typeface="Calibri" pitchFamily="34" charset="0"/>
                <a:ea typeface="Calibri" pitchFamily="34" charset="-122"/>
                <a:cs typeface="Calibri" pitchFamily="34" charset="-120"/>
              </a:rPr>
              <a:t>figma.com/proto/…</a:t>
            </a:r>
            <a:endParaRPr lang="en-US" sz="1200" dirty="0"/>
          </a:p>
        </p:txBody>
      </p:sp>
      <p:sp>
        <p:nvSpPr>
          <p:cNvPr id="21" name="Shape 18"/>
          <p:cNvSpPr/>
          <p:nvPr/>
        </p:nvSpPr>
        <p:spPr>
          <a:xfrm>
            <a:off x="7223760" y="1618488"/>
            <a:ext cx="1051560" cy="329184"/>
          </a:xfrm>
          <a:prstGeom prst="roundRect">
            <a:avLst>
              <a:gd name="adj" fmla="val 50000"/>
            </a:avLst>
          </a:prstGeom>
          <a:solidFill>
            <a:srgbClr val="1ABCFE"/>
          </a:solidFill>
          <a:ln/>
        </p:spPr>
      </p:sp>
      <p:sp>
        <p:nvSpPr>
          <p:cNvPr id="22" name="Text 19"/>
          <p:cNvSpPr txBox="1"/>
          <p:nvPr/>
        </p:nvSpPr>
        <p:spPr>
          <a:xfrm>
            <a:off x="7223760" y="1618488"/>
            <a:ext cx="10515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Copier</a:t>
            </a:r>
            <a:endParaRPr lang="en-US" sz="1100" dirty="0"/>
          </a:p>
        </p:txBody>
      </p:sp>
      <p:sp>
        <p:nvSpPr>
          <p:cNvPr id="23" name="Shape 20"/>
          <p:cNvSpPr/>
          <p:nvPr/>
        </p:nvSpPr>
        <p:spPr>
          <a:xfrm>
            <a:off x="5394960" y="2286000"/>
            <a:ext cx="1371600" cy="2011680"/>
          </a:xfrm>
          <a:prstGeom prst="roundRect">
            <a:avLst>
              <a:gd name="adj" fmla="val 6667"/>
            </a:avLst>
          </a:prstGeom>
          <a:solidFill>
            <a:srgbClr val="FFFFFF"/>
          </a:solidFill>
          <a:ln w="19050">
            <a:solidFill>
              <a:srgbClr val="6B6880"/>
            </a:solidFill>
            <a:prstDash val="solid"/>
          </a:ln>
        </p:spPr>
      </p:sp>
      <p:sp>
        <p:nvSpPr>
          <p:cNvPr id="24" name="Shape 21"/>
          <p:cNvSpPr/>
          <p:nvPr/>
        </p:nvSpPr>
        <p:spPr>
          <a:xfrm>
            <a:off x="6035040" y="2926080"/>
            <a:ext cx="2286000" cy="822960"/>
          </a:xfrm>
          <a:prstGeom prst="roundRect">
            <a:avLst>
              <a:gd name="adj" fmla="val 13333"/>
            </a:avLst>
          </a:prstGeom>
          <a:solidFill>
            <a:srgbClr val="A259FF"/>
          </a:solidFill>
          <a:ln/>
        </p:spPr>
      </p:sp>
      <p:sp>
        <p:nvSpPr>
          <p:cNvPr id="25" name="Text 22"/>
          <p:cNvSpPr txBox="1"/>
          <p:nvPr/>
        </p:nvSpPr>
        <p:spPr>
          <a:xfrm>
            <a:off x="6126480" y="2926080"/>
            <a:ext cx="2103120" cy="8229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Ce bouton est trop petit »</a:t>
            </a:r>
            <a:endParaRPr lang="en-US" sz="1300" dirty="0"/>
          </a:p>
        </p:txBody>
      </p:sp>
      <p:sp>
        <p:nvSpPr>
          <p:cNvPr id="26" name="Shape 23"/>
          <p:cNvSpPr/>
          <p:nvPr/>
        </p:nvSpPr>
        <p:spPr>
          <a:xfrm>
            <a:off x="5806440" y="2788920"/>
            <a:ext cx="320040" cy="320040"/>
          </a:xfrm>
          <a:prstGeom prst="ellipse">
            <a:avLst/>
          </a:prstGeom>
          <a:solidFill>
            <a:srgbClr val="F24E1E"/>
          </a:solidFill>
          <a:ln/>
        </p:spPr>
      </p:sp>
      <p:sp>
        <p:nvSpPr>
          <p:cNvPr id="27" name="Text 24"/>
          <p:cNvSpPr txBox="1"/>
          <p:nvPr/>
        </p:nvSpPr>
        <p:spPr>
          <a:xfrm>
            <a:off x="5806440" y="278892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B"/>
        </a:solidFill>
      </p:bgPr>
    </p:bg>
    <p:spTree>
      <p:nvGrpSpPr>
        <p:cNvPr id="1" name=""/>
        <p:cNvGrpSpPr/>
        <p:nvPr/>
      </p:nvGrpSpPr>
      <p:grpSpPr>
        <a:xfrm>
          <a:off x="0" y="0"/>
          <a:ext cx="0" cy="0"/>
          <a:chOff x="0" y="0"/>
          <a:chExt cx="0" cy="0"/>
        </a:xfrm>
      </p:grpSpPr>
      <p:sp>
        <p:nvSpPr>
          <p:cNvPr id="2" name="Text 0"/>
          <p:cNvSpPr txBox="1"/>
          <p:nvPr/>
        </p:nvSpPr>
        <p:spPr>
          <a:xfrm>
            <a:off x="457200" y="365760"/>
            <a:ext cx="6766560" cy="731520"/>
          </a:xfrm>
          <a:prstGeom prst="rect">
            <a:avLst/>
          </a:prstGeom>
          <a:noFill/>
          <a:ln/>
        </p:spPr>
        <p:txBody>
          <a:bodyPr wrap="square" lIns="0" tIns="0" rIns="0" bIns="0" rtlCol="0" anchor="ctr"/>
          <a:lstStyle/>
          <a:p>
            <a:pPr indent="0" marL="0">
              <a:buNone/>
            </a:pPr>
            <a:r>
              <a:rPr lang="en-US" sz="3200" b="1" dirty="0">
                <a:solidFill>
                  <a:srgbClr val="1E1B2E"/>
                </a:solidFill>
                <a:latin typeface="Cambria" pitchFamily="34" charset="0"/>
                <a:ea typeface="Cambria" pitchFamily="34" charset="-122"/>
                <a:cs typeface="Cambria" pitchFamily="34" charset="-120"/>
              </a:rPr>
              <a:t>TP : parcours de réservation d'hôtel</a:t>
            </a:r>
            <a:endParaRPr lang="en-US" sz="3200" dirty="0"/>
          </a:p>
        </p:txBody>
      </p:sp>
      <p:sp>
        <p:nvSpPr>
          <p:cNvPr id="3" name="Shape 1"/>
          <p:cNvSpPr/>
          <p:nvPr/>
        </p:nvSpPr>
        <p:spPr>
          <a:xfrm>
            <a:off x="7406640" y="228600"/>
            <a:ext cx="1280160" cy="292608"/>
          </a:xfrm>
          <a:prstGeom prst="roundRect">
            <a:avLst>
              <a:gd name="adj" fmla="val 50000"/>
            </a:avLst>
          </a:prstGeom>
          <a:solidFill>
            <a:srgbClr val="1E1B2E"/>
          </a:solidFill>
          <a:ln/>
        </p:spPr>
      </p:sp>
      <p:sp>
        <p:nvSpPr>
          <p:cNvPr id="4" name="Text 2"/>
          <p:cNvSpPr txBox="1"/>
          <p:nvPr/>
        </p:nvSpPr>
        <p:spPr>
          <a:xfrm>
            <a:off x="7406640" y="2286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 5</a:t>
            </a:r>
            <a:endParaRPr lang="en-US" sz="1100" dirty="0"/>
          </a:p>
        </p:txBody>
      </p:sp>
      <p:sp>
        <p:nvSpPr>
          <p:cNvPr id="6" name="Shape 3"/>
          <p:cNvSpPr/>
          <p:nvPr/>
        </p:nvSpPr>
        <p:spPr>
          <a:xfrm>
            <a:off x="457200" y="1463040"/>
            <a:ext cx="1097280" cy="1920240"/>
          </a:xfrm>
          <a:prstGeom prst="roundRect">
            <a:avLst>
              <a:gd name="adj" fmla="val 8333"/>
            </a:avLst>
          </a:prstGeom>
          <a:solidFill>
            <a:srgbClr val="FFFFFF"/>
          </a:solidFill>
          <a:ln w="19050">
            <a:solidFill>
              <a:srgbClr val="A259FF"/>
            </a:solidFill>
            <a:prstDash val="solid"/>
          </a:ln>
        </p:spPr>
      </p:sp>
      <p:sp>
        <p:nvSpPr>
          <p:cNvPr id="7" name="Shape 4"/>
          <p:cNvSpPr/>
          <p:nvPr/>
        </p:nvSpPr>
        <p:spPr>
          <a:xfrm>
            <a:off x="777240" y="1691640"/>
            <a:ext cx="457200" cy="457200"/>
          </a:xfrm>
          <a:prstGeom prst="ellipse">
            <a:avLst/>
          </a:prstGeom>
          <a:solidFill>
            <a:srgbClr val="A259FF"/>
          </a:solidFill>
          <a:ln/>
        </p:spPr>
      </p:sp>
      <p:sp>
        <p:nvSpPr>
          <p:cNvPr id="8" name="Text 5"/>
          <p:cNvSpPr txBox="1"/>
          <p:nvPr/>
        </p:nvSpPr>
        <p:spPr>
          <a:xfrm>
            <a:off x="77724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6"/>
          <p:cNvSpPr txBox="1"/>
          <p:nvPr/>
        </p:nvSpPr>
        <p:spPr>
          <a:xfrm>
            <a:off x="365760" y="3520440"/>
            <a:ext cx="1280160" cy="320040"/>
          </a:xfrm>
          <a:prstGeom prst="rect">
            <a:avLst/>
          </a:prstGeom>
          <a:noFill/>
          <a:ln/>
        </p:spPr>
        <p:txBody>
          <a:bodyPr wrap="square" lIns="0" tIns="0" rIns="0" bIns="0" rtlCol="0" anchor="t"/>
          <a:lstStyle/>
          <a:p>
            <a:pPr algn="ctr" indent="0" marL="0">
              <a:buNone/>
            </a:pPr>
            <a:r>
              <a:rPr lang="en-US" sz="1300" b="1" dirty="0">
                <a:solidFill>
                  <a:srgbClr val="1E1B2E"/>
                </a:solidFill>
                <a:latin typeface="Cambria" pitchFamily="34" charset="0"/>
                <a:ea typeface="Cambria" pitchFamily="34" charset="-122"/>
                <a:cs typeface="Cambria" pitchFamily="34" charset="-120"/>
              </a:rPr>
              <a:t>Accueil</a:t>
            </a:r>
            <a:endParaRPr lang="en-US" sz="1300" dirty="0"/>
          </a:p>
        </p:txBody>
      </p:sp>
      <p:sp>
        <p:nvSpPr>
          <p:cNvPr id="10" name="Shape 7"/>
          <p:cNvSpPr/>
          <p:nvPr/>
        </p:nvSpPr>
        <p:spPr>
          <a:xfrm>
            <a:off x="1572768" y="2423160"/>
            <a:ext cx="256032" cy="0"/>
          </a:xfrm>
          <a:prstGeom prst="line">
            <a:avLst/>
          </a:prstGeom>
          <a:noFill/>
          <a:ln w="31750">
            <a:solidFill>
              <a:srgbClr val="1E1B2E"/>
            </a:solidFill>
            <a:prstDash val="solid"/>
            <a:tailEnd type="triangle"/>
          </a:ln>
        </p:spPr>
      </p:sp>
      <p:sp>
        <p:nvSpPr>
          <p:cNvPr id="11" name="Shape 8"/>
          <p:cNvSpPr/>
          <p:nvPr/>
        </p:nvSpPr>
        <p:spPr>
          <a:xfrm>
            <a:off x="1847088" y="1463040"/>
            <a:ext cx="1097280" cy="1920240"/>
          </a:xfrm>
          <a:prstGeom prst="roundRect">
            <a:avLst>
              <a:gd name="adj" fmla="val 8333"/>
            </a:avLst>
          </a:prstGeom>
          <a:solidFill>
            <a:srgbClr val="FFFFFF"/>
          </a:solidFill>
          <a:ln w="19050">
            <a:solidFill>
              <a:srgbClr val="F24E1E"/>
            </a:solidFill>
            <a:prstDash val="solid"/>
          </a:ln>
        </p:spPr>
      </p:sp>
      <p:sp>
        <p:nvSpPr>
          <p:cNvPr id="12" name="Shape 9"/>
          <p:cNvSpPr/>
          <p:nvPr/>
        </p:nvSpPr>
        <p:spPr>
          <a:xfrm>
            <a:off x="2167128" y="1691640"/>
            <a:ext cx="457200" cy="457200"/>
          </a:xfrm>
          <a:prstGeom prst="ellipse">
            <a:avLst/>
          </a:prstGeom>
          <a:solidFill>
            <a:srgbClr val="F24E1E"/>
          </a:solidFill>
          <a:ln/>
        </p:spPr>
      </p:sp>
      <p:sp>
        <p:nvSpPr>
          <p:cNvPr id="13" name="Text 10"/>
          <p:cNvSpPr txBox="1"/>
          <p:nvPr/>
        </p:nvSpPr>
        <p:spPr>
          <a:xfrm>
            <a:off x="2167128"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1"/>
          <p:cNvSpPr txBox="1"/>
          <p:nvPr/>
        </p:nvSpPr>
        <p:spPr>
          <a:xfrm>
            <a:off x="1755648" y="3520440"/>
            <a:ext cx="1280160" cy="320040"/>
          </a:xfrm>
          <a:prstGeom prst="rect">
            <a:avLst/>
          </a:prstGeom>
          <a:noFill/>
          <a:ln/>
        </p:spPr>
        <p:txBody>
          <a:bodyPr wrap="square" lIns="0" tIns="0" rIns="0" bIns="0" rtlCol="0" anchor="t"/>
          <a:lstStyle/>
          <a:p>
            <a:pPr algn="ctr" indent="0" marL="0">
              <a:buNone/>
            </a:pPr>
            <a:r>
              <a:rPr lang="en-US" sz="1300" b="1" dirty="0">
                <a:solidFill>
                  <a:srgbClr val="1E1B2E"/>
                </a:solidFill>
                <a:latin typeface="Cambria" pitchFamily="34" charset="0"/>
                <a:ea typeface="Cambria" pitchFamily="34" charset="-122"/>
                <a:cs typeface="Cambria" pitchFamily="34" charset="-120"/>
              </a:rPr>
              <a:t>Recherche</a:t>
            </a:r>
            <a:endParaRPr lang="en-US" sz="1300" dirty="0"/>
          </a:p>
        </p:txBody>
      </p:sp>
      <p:sp>
        <p:nvSpPr>
          <p:cNvPr id="15" name="Shape 12"/>
          <p:cNvSpPr/>
          <p:nvPr/>
        </p:nvSpPr>
        <p:spPr>
          <a:xfrm>
            <a:off x="2962656" y="2423160"/>
            <a:ext cx="256032" cy="0"/>
          </a:xfrm>
          <a:prstGeom prst="line">
            <a:avLst/>
          </a:prstGeom>
          <a:noFill/>
          <a:ln w="31750">
            <a:solidFill>
              <a:srgbClr val="1E1B2E"/>
            </a:solidFill>
            <a:prstDash val="solid"/>
            <a:tailEnd type="triangle"/>
          </a:ln>
        </p:spPr>
      </p:sp>
      <p:sp>
        <p:nvSpPr>
          <p:cNvPr id="16" name="Shape 13"/>
          <p:cNvSpPr/>
          <p:nvPr/>
        </p:nvSpPr>
        <p:spPr>
          <a:xfrm>
            <a:off x="3236976" y="1463040"/>
            <a:ext cx="1097280" cy="1920240"/>
          </a:xfrm>
          <a:prstGeom prst="roundRect">
            <a:avLst>
              <a:gd name="adj" fmla="val 8333"/>
            </a:avLst>
          </a:prstGeom>
          <a:solidFill>
            <a:srgbClr val="FFFFFF"/>
          </a:solidFill>
          <a:ln w="19050">
            <a:solidFill>
              <a:srgbClr val="1ABCFE"/>
            </a:solidFill>
            <a:prstDash val="solid"/>
          </a:ln>
        </p:spPr>
      </p:sp>
      <p:sp>
        <p:nvSpPr>
          <p:cNvPr id="17" name="Shape 14"/>
          <p:cNvSpPr/>
          <p:nvPr/>
        </p:nvSpPr>
        <p:spPr>
          <a:xfrm>
            <a:off x="3557016" y="1691640"/>
            <a:ext cx="457200" cy="457200"/>
          </a:xfrm>
          <a:prstGeom prst="ellipse">
            <a:avLst/>
          </a:prstGeom>
          <a:solidFill>
            <a:srgbClr val="1ABCFE"/>
          </a:solidFill>
          <a:ln/>
        </p:spPr>
      </p:sp>
      <p:sp>
        <p:nvSpPr>
          <p:cNvPr id="18" name="Text 15"/>
          <p:cNvSpPr txBox="1"/>
          <p:nvPr/>
        </p:nvSpPr>
        <p:spPr>
          <a:xfrm>
            <a:off x="3557016"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6"/>
          <p:cNvSpPr txBox="1"/>
          <p:nvPr/>
        </p:nvSpPr>
        <p:spPr>
          <a:xfrm>
            <a:off x="3145536" y="3520440"/>
            <a:ext cx="1280160" cy="320040"/>
          </a:xfrm>
          <a:prstGeom prst="rect">
            <a:avLst/>
          </a:prstGeom>
          <a:noFill/>
          <a:ln/>
        </p:spPr>
        <p:txBody>
          <a:bodyPr wrap="square" lIns="0" tIns="0" rIns="0" bIns="0" rtlCol="0" anchor="t"/>
          <a:lstStyle/>
          <a:p>
            <a:pPr algn="ctr" indent="0" marL="0">
              <a:buNone/>
            </a:pPr>
            <a:r>
              <a:rPr lang="en-US" sz="1300" b="1" dirty="0">
                <a:solidFill>
                  <a:srgbClr val="1E1B2E"/>
                </a:solidFill>
                <a:latin typeface="Cambria" pitchFamily="34" charset="0"/>
                <a:ea typeface="Cambria" pitchFamily="34" charset="-122"/>
                <a:cs typeface="Cambria" pitchFamily="34" charset="-120"/>
              </a:rPr>
              <a:t>Résultats</a:t>
            </a:r>
            <a:endParaRPr lang="en-US" sz="1300" dirty="0"/>
          </a:p>
        </p:txBody>
      </p:sp>
      <p:sp>
        <p:nvSpPr>
          <p:cNvPr id="20" name="Shape 17"/>
          <p:cNvSpPr/>
          <p:nvPr/>
        </p:nvSpPr>
        <p:spPr>
          <a:xfrm>
            <a:off x="4352544" y="2423160"/>
            <a:ext cx="256032" cy="0"/>
          </a:xfrm>
          <a:prstGeom prst="line">
            <a:avLst/>
          </a:prstGeom>
          <a:noFill/>
          <a:ln w="31750">
            <a:solidFill>
              <a:srgbClr val="1E1B2E"/>
            </a:solidFill>
            <a:prstDash val="solid"/>
            <a:tailEnd type="triangle"/>
          </a:ln>
        </p:spPr>
      </p:sp>
      <p:sp>
        <p:nvSpPr>
          <p:cNvPr id="21" name="Shape 18"/>
          <p:cNvSpPr/>
          <p:nvPr/>
        </p:nvSpPr>
        <p:spPr>
          <a:xfrm>
            <a:off x="4626864" y="1463040"/>
            <a:ext cx="1097280" cy="1920240"/>
          </a:xfrm>
          <a:prstGeom prst="roundRect">
            <a:avLst>
              <a:gd name="adj" fmla="val 8333"/>
            </a:avLst>
          </a:prstGeom>
          <a:solidFill>
            <a:srgbClr val="FFFFFF"/>
          </a:solidFill>
          <a:ln w="19050">
            <a:solidFill>
              <a:srgbClr val="0ACF83"/>
            </a:solidFill>
            <a:prstDash val="solid"/>
          </a:ln>
        </p:spPr>
      </p:sp>
      <p:sp>
        <p:nvSpPr>
          <p:cNvPr id="22" name="Shape 19"/>
          <p:cNvSpPr/>
          <p:nvPr/>
        </p:nvSpPr>
        <p:spPr>
          <a:xfrm>
            <a:off x="4946904" y="1691640"/>
            <a:ext cx="457200" cy="457200"/>
          </a:xfrm>
          <a:prstGeom prst="ellipse">
            <a:avLst/>
          </a:prstGeom>
          <a:solidFill>
            <a:srgbClr val="0ACF83"/>
          </a:solidFill>
          <a:ln/>
        </p:spPr>
      </p:sp>
      <p:sp>
        <p:nvSpPr>
          <p:cNvPr id="23" name="Text 20"/>
          <p:cNvSpPr txBox="1"/>
          <p:nvPr/>
        </p:nvSpPr>
        <p:spPr>
          <a:xfrm>
            <a:off x="4946904"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1"/>
          <p:cNvSpPr txBox="1"/>
          <p:nvPr/>
        </p:nvSpPr>
        <p:spPr>
          <a:xfrm>
            <a:off x="4535424" y="3520440"/>
            <a:ext cx="1280160" cy="320040"/>
          </a:xfrm>
          <a:prstGeom prst="rect">
            <a:avLst/>
          </a:prstGeom>
          <a:noFill/>
          <a:ln/>
        </p:spPr>
        <p:txBody>
          <a:bodyPr wrap="square" lIns="0" tIns="0" rIns="0" bIns="0" rtlCol="0" anchor="t"/>
          <a:lstStyle/>
          <a:p>
            <a:pPr algn="ctr" indent="0" marL="0">
              <a:buNone/>
            </a:pPr>
            <a:r>
              <a:rPr lang="en-US" sz="1300" b="1" dirty="0">
                <a:solidFill>
                  <a:srgbClr val="1E1B2E"/>
                </a:solidFill>
                <a:latin typeface="Cambria" pitchFamily="34" charset="0"/>
                <a:ea typeface="Cambria" pitchFamily="34" charset="-122"/>
                <a:cs typeface="Cambria" pitchFamily="34" charset="-120"/>
              </a:rPr>
              <a:t>Détail</a:t>
            </a:r>
            <a:endParaRPr lang="en-US" sz="1300" dirty="0"/>
          </a:p>
        </p:txBody>
      </p:sp>
      <p:sp>
        <p:nvSpPr>
          <p:cNvPr id="25" name="Shape 22"/>
          <p:cNvSpPr/>
          <p:nvPr/>
        </p:nvSpPr>
        <p:spPr>
          <a:xfrm>
            <a:off x="5742432" y="2423160"/>
            <a:ext cx="256032" cy="0"/>
          </a:xfrm>
          <a:prstGeom prst="line">
            <a:avLst/>
          </a:prstGeom>
          <a:noFill/>
          <a:ln w="31750">
            <a:solidFill>
              <a:srgbClr val="1E1B2E"/>
            </a:solidFill>
            <a:prstDash val="solid"/>
            <a:tailEnd type="triangle"/>
          </a:ln>
        </p:spPr>
      </p:sp>
      <p:sp>
        <p:nvSpPr>
          <p:cNvPr id="26" name="Shape 23"/>
          <p:cNvSpPr/>
          <p:nvPr/>
        </p:nvSpPr>
        <p:spPr>
          <a:xfrm>
            <a:off x="6016752" y="1463040"/>
            <a:ext cx="1097280" cy="1920240"/>
          </a:xfrm>
          <a:prstGeom prst="roundRect">
            <a:avLst>
              <a:gd name="adj" fmla="val 8333"/>
            </a:avLst>
          </a:prstGeom>
          <a:solidFill>
            <a:srgbClr val="FFFFFF"/>
          </a:solidFill>
          <a:ln w="19050">
            <a:solidFill>
              <a:srgbClr val="A259FF"/>
            </a:solidFill>
            <a:prstDash val="solid"/>
          </a:ln>
        </p:spPr>
      </p:sp>
      <p:sp>
        <p:nvSpPr>
          <p:cNvPr id="27" name="Shape 24"/>
          <p:cNvSpPr/>
          <p:nvPr/>
        </p:nvSpPr>
        <p:spPr>
          <a:xfrm>
            <a:off x="6336792" y="1691640"/>
            <a:ext cx="457200" cy="457200"/>
          </a:xfrm>
          <a:prstGeom prst="ellipse">
            <a:avLst/>
          </a:prstGeom>
          <a:solidFill>
            <a:srgbClr val="A259FF"/>
          </a:solidFill>
          <a:ln/>
        </p:spPr>
      </p:sp>
      <p:sp>
        <p:nvSpPr>
          <p:cNvPr id="28" name="Text 25"/>
          <p:cNvSpPr txBox="1"/>
          <p:nvPr/>
        </p:nvSpPr>
        <p:spPr>
          <a:xfrm>
            <a:off x="6336792"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9" name="Text 26"/>
          <p:cNvSpPr txBox="1"/>
          <p:nvPr/>
        </p:nvSpPr>
        <p:spPr>
          <a:xfrm>
            <a:off x="5925312" y="3520440"/>
            <a:ext cx="1280160" cy="320040"/>
          </a:xfrm>
          <a:prstGeom prst="rect">
            <a:avLst/>
          </a:prstGeom>
          <a:noFill/>
          <a:ln/>
        </p:spPr>
        <p:txBody>
          <a:bodyPr wrap="square" lIns="0" tIns="0" rIns="0" bIns="0" rtlCol="0" anchor="t"/>
          <a:lstStyle/>
          <a:p>
            <a:pPr algn="ctr" indent="0" marL="0">
              <a:buNone/>
            </a:pPr>
            <a:r>
              <a:rPr lang="en-US" sz="1300" b="1" dirty="0">
                <a:solidFill>
                  <a:srgbClr val="1E1B2E"/>
                </a:solidFill>
                <a:latin typeface="Cambria" pitchFamily="34" charset="0"/>
                <a:ea typeface="Cambria" pitchFamily="34" charset="-122"/>
                <a:cs typeface="Cambria" pitchFamily="34" charset="-120"/>
              </a:rPr>
              <a:t>Réservation</a:t>
            </a:r>
            <a:endParaRPr lang="en-US" sz="1300" dirty="0"/>
          </a:p>
        </p:txBody>
      </p:sp>
      <p:sp>
        <p:nvSpPr>
          <p:cNvPr id="30" name="Shape 27"/>
          <p:cNvSpPr/>
          <p:nvPr/>
        </p:nvSpPr>
        <p:spPr>
          <a:xfrm>
            <a:off x="7132320" y="2423160"/>
            <a:ext cx="256032" cy="0"/>
          </a:xfrm>
          <a:prstGeom prst="line">
            <a:avLst/>
          </a:prstGeom>
          <a:noFill/>
          <a:ln w="31750">
            <a:solidFill>
              <a:srgbClr val="1E1B2E"/>
            </a:solidFill>
            <a:prstDash val="solid"/>
            <a:tailEnd type="triangle"/>
          </a:ln>
        </p:spPr>
      </p:sp>
      <p:sp>
        <p:nvSpPr>
          <p:cNvPr id="31" name="Shape 28"/>
          <p:cNvSpPr/>
          <p:nvPr/>
        </p:nvSpPr>
        <p:spPr>
          <a:xfrm>
            <a:off x="7406640" y="1463040"/>
            <a:ext cx="1097280" cy="1920240"/>
          </a:xfrm>
          <a:prstGeom prst="roundRect">
            <a:avLst>
              <a:gd name="adj" fmla="val 8333"/>
            </a:avLst>
          </a:prstGeom>
          <a:solidFill>
            <a:srgbClr val="FFFFFF"/>
          </a:solidFill>
          <a:ln w="19050">
            <a:solidFill>
              <a:srgbClr val="F24E1E"/>
            </a:solidFill>
            <a:prstDash val="solid"/>
          </a:ln>
        </p:spPr>
      </p:sp>
      <p:sp>
        <p:nvSpPr>
          <p:cNvPr id="32" name="Shape 29"/>
          <p:cNvSpPr/>
          <p:nvPr/>
        </p:nvSpPr>
        <p:spPr>
          <a:xfrm>
            <a:off x="7726680" y="1691640"/>
            <a:ext cx="457200" cy="457200"/>
          </a:xfrm>
          <a:prstGeom prst="ellipse">
            <a:avLst/>
          </a:prstGeom>
          <a:solidFill>
            <a:srgbClr val="F24E1E"/>
          </a:solidFill>
          <a:ln/>
        </p:spPr>
      </p:sp>
      <p:sp>
        <p:nvSpPr>
          <p:cNvPr id="33" name="Text 30"/>
          <p:cNvSpPr txBox="1"/>
          <p:nvPr/>
        </p:nvSpPr>
        <p:spPr>
          <a:xfrm>
            <a:off x="772668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4" name="Text 31"/>
          <p:cNvSpPr txBox="1"/>
          <p:nvPr/>
        </p:nvSpPr>
        <p:spPr>
          <a:xfrm>
            <a:off x="7315200" y="3520440"/>
            <a:ext cx="1280160" cy="320040"/>
          </a:xfrm>
          <a:prstGeom prst="rect">
            <a:avLst/>
          </a:prstGeom>
          <a:noFill/>
          <a:ln/>
        </p:spPr>
        <p:txBody>
          <a:bodyPr wrap="square" lIns="0" tIns="0" rIns="0" bIns="0" rtlCol="0" anchor="t"/>
          <a:lstStyle/>
          <a:p>
            <a:pPr algn="ctr" indent="0" marL="0">
              <a:buNone/>
            </a:pPr>
            <a:r>
              <a:rPr lang="en-US" sz="1300" b="1" dirty="0">
                <a:solidFill>
                  <a:srgbClr val="1E1B2E"/>
                </a:solidFill>
                <a:latin typeface="Cambria" pitchFamily="34" charset="0"/>
                <a:ea typeface="Cambria" pitchFamily="34" charset="-122"/>
                <a:cs typeface="Cambria" pitchFamily="34" charset="-120"/>
              </a:rPr>
              <a:t>Confirmation</a:t>
            </a:r>
            <a:endParaRPr lang="en-US" sz="1300" dirty="0"/>
          </a:p>
        </p:txBody>
      </p:sp>
      <p:sp>
        <p:nvSpPr>
          <p:cNvPr id="35" name="Shape 32"/>
          <p:cNvSpPr/>
          <p:nvPr/>
        </p:nvSpPr>
        <p:spPr>
          <a:xfrm>
            <a:off x="457200" y="4114800"/>
            <a:ext cx="8229600" cy="548640"/>
          </a:xfrm>
          <a:prstGeom prst="roundRect">
            <a:avLst>
              <a:gd name="adj" fmla="val 50000"/>
            </a:avLst>
          </a:prstGeom>
          <a:solidFill>
            <a:srgbClr val="1E1B2E"/>
          </a:solidFill>
          <a:ln/>
        </p:spPr>
      </p:sp>
      <p:sp>
        <p:nvSpPr>
          <p:cNvPr id="36" name="Text 33"/>
          <p:cNvSpPr txBox="1"/>
          <p:nvPr/>
        </p:nvSpPr>
        <p:spPr>
          <a:xfrm>
            <a:off x="457200" y="4114800"/>
            <a:ext cx="822960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Liens  +  Déclencheurs  +  Transitions  +  Overlay  +  Scroll</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B2E"/>
        </a:solidFill>
      </p:bgPr>
    </p:bg>
    <p:spTree>
      <p:nvGrpSpPr>
        <p:cNvPr id="1" name=""/>
        <p:cNvGrpSpPr/>
        <p:nvPr/>
      </p:nvGrpSpPr>
      <p:grpSpPr>
        <a:xfrm>
          <a:off x="0" y="0"/>
          <a:ext cx="0" cy="0"/>
          <a:chOff x="0" y="0"/>
          <a:chExt cx="0" cy="0"/>
        </a:xfrm>
      </p:grpSpPr>
      <p:sp>
        <p:nvSpPr>
          <p:cNvPr id="2" name="Text 0"/>
          <p:cNvSpPr txBox="1"/>
          <p:nvPr/>
        </p:nvSpPr>
        <p:spPr>
          <a:xfrm>
            <a:off x="457200" y="365760"/>
            <a:ext cx="676656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Démo du TP en direct</a:t>
            </a:r>
            <a:endParaRPr lang="en-US" sz="3200" dirty="0"/>
          </a:p>
        </p:txBody>
      </p:sp>
      <p:sp>
        <p:nvSpPr>
          <p:cNvPr id="3" name="Shape 1"/>
          <p:cNvSpPr/>
          <p:nvPr/>
        </p:nvSpPr>
        <p:spPr>
          <a:xfrm>
            <a:off x="7406640" y="228600"/>
            <a:ext cx="1280160" cy="292608"/>
          </a:xfrm>
          <a:prstGeom prst="roundRect">
            <a:avLst>
              <a:gd name="adj" fmla="val 50000"/>
            </a:avLst>
          </a:prstGeom>
          <a:solidFill>
            <a:srgbClr val="A259FF"/>
          </a:solidFill>
          <a:ln/>
        </p:spPr>
      </p:sp>
      <p:sp>
        <p:nvSpPr>
          <p:cNvPr id="4" name="Text 2"/>
          <p:cNvSpPr txBox="1"/>
          <p:nvPr/>
        </p:nvSpPr>
        <p:spPr>
          <a:xfrm>
            <a:off x="7406640" y="2286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 5</a:t>
            </a:r>
            <a:endParaRPr lang="en-US" sz="1100" dirty="0"/>
          </a:p>
        </p:txBody>
      </p:sp>
      <p:sp>
        <p:nvSpPr>
          <p:cNvPr id="6" name="Shape 3"/>
          <p:cNvSpPr/>
          <p:nvPr/>
        </p:nvSpPr>
        <p:spPr>
          <a:xfrm>
            <a:off x="457200" y="1280160"/>
            <a:ext cx="8229600" cy="475488"/>
          </a:xfrm>
          <a:prstGeom prst="roundRect">
            <a:avLst>
              <a:gd name="adj" fmla="val 23077"/>
            </a:avLst>
          </a:prstGeom>
          <a:solidFill>
            <a:srgbClr val="2E2A45"/>
          </a:solidFill>
          <a:ln/>
        </p:spPr>
      </p:sp>
      <p:sp>
        <p:nvSpPr>
          <p:cNvPr id="7" name="Shape 4"/>
          <p:cNvSpPr/>
          <p:nvPr/>
        </p:nvSpPr>
        <p:spPr>
          <a:xfrm>
            <a:off x="548640" y="1335024"/>
            <a:ext cx="365760" cy="365760"/>
          </a:xfrm>
          <a:prstGeom prst="ellipse">
            <a:avLst/>
          </a:prstGeom>
          <a:solidFill>
            <a:srgbClr val="A259FF"/>
          </a:solidFill>
          <a:ln/>
        </p:spPr>
      </p:sp>
      <p:sp>
        <p:nvSpPr>
          <p:cNvPr id="8" name="Text 5"/>
          <p:cNvSpPr txBox="1"/>
          <p:nvPr/>
        </p:nvSpPr>
        <p:spPr>
          <a:xfrm>
            <a:off x="548640" y="13350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9" name="Text 6"/>
          <p:cNvSpPr txBox="1"/>
          <p:nvPr/>
        </p:nvSpPr>
        <p:spPr>
          <a:xfrm>
            <a:off x="1097280" y="1280160"/>
            <a:ext cx="2011680" cy="4754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Accueil</a:t>
            </a:r>
            <a:endParaRPr lang="en-US" sz="1600" dirty="0"/>
          </a:p>
        </p:txBody>
      </p:sp>
      <p:sp>
        <p:nvSpPr>
          <p:cNvPr id="10" name="Text 7"/>
          <p:cNvSpPr txBox="1"/>
          <p:nvPr/>
        </p:nvSpPr>
        <p:spPr>
          <a:xfrm>
            <a:off x="3200400" y="1280160"/>
            <a:ext cx="5394960" cy="475488"/>
          </a:xfrm>
          <a:prstGeom prst="rect">
            <a:avLst/>
          </a:prstGeom>
          <a:noFill/>
          <a:ln/>
        </p:spPr>
        <p:txBody>
          <a:bodyPr wrap="square" lIns="0" tIns="0" rIns="0" bIns="0" rtlCol="0" anchor="ctr"/>
          <a:lstStyle/>
          <a:p>
            <a:pPr indent="0" marL="0">
              <a:buNone/>
            </a:pPr>
            <a:r>
              <a:rPr lang="en-US" sz="1500" dirty="0">
                <a:solidFill>
                  <a:srgbClr val="CFCBE6"/>
                </a:solidFill>
                <a:latin typeface="Calibri" pitchFamily="34" charset="0"/>
                <a:ea typeface="Calibri" pitchFamily="34" charset="-122"/>
                <a:cs typeface="Calibri" pitchFamily="34" charset="-120"/>
              </a:rPr>
              <a:t>Point de départ du prototype</a:t>
            </a:r>
            <a:endParaRPr lang="en-US" sz="1500" dirty="0"/>
          </a:p>
        </p:txBody>
      </p:sp>
      <p:sp>
        <p:nvSpPr>
          <p:cNvPr id="11" name="Shape 8"/>
          <p:cNvSpPr/>
          <p:nvPr/>
        </p:nvSpPr>
        <p:spPr>
          <a:xfrm>
            <a:off x="457200" y="1847088"/>
            <a:ext cx="8229600" cy="475488"/>
          </a:xfrm>
          <a:prstGeom prst="roundRect">
            <a:avLst>
              <a:gd name="adj" fmla="val 23077"/>
            </a:avLst>
          </a:prstGeom>
          <a:solidFill>
            <a:srgbClr val="2E2A45"/>
          </a:solidFill>
          <a:ln/>
        </p:spPr>
      </p:sp>
      <p:sp>
        <p:nvSpPr>
          <p:cNvPr id="12" name="Shape 9"/>
          <p:cNvSpPr/>
          <p:nvPr/>
        </p:nvSpPr>
        <p:spPr>
          <a:xfrm>
            <a:off x="548640" y="1901952"/>
            <a:ext cx="365760" cy="365760"/>
          </a:xfrm>
          <a:prstGeom prst="ellipse">
            <a:avLst/>
          </a:prstGeom>
          <a:solidFill>
            <a:srgbClr val="F24E1E"/>
          </a:solidFill>
          <a:ln/>
        </p:spPr>
      </p:sp>
      <p:sp>
        <p:nvSpPr>
          <p:cNvPr id="13" name="Text 10"/>
          <p:cNvSpPr txBox="1"/>
          <p:nvPr/>
        </p:nvSpPr>
        <p:spPr>
          <a:xfrm>
            <a:off x="548640" y="19019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4" name="Text 11"/>
          <p:cNvSpPr txBox="1"/>
          <p:nvPr/>
        </p:nvSpPr>
        <p:spPr>
          <a:xfrm>
            <a:off x="1097280" y="1847088"/>
            <a:ext cx="2011680" cy="4754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Recherche</a:t>
            </a:r>
            <a:endParaRPr lang="en-US" sz="1600" dirty="0"/>
          </a:p>
        </p:txBody>
      </p:sp>
      <p:sp>
        <p:nvSpPr>
          <p:cNvPr id="15" name="Text 12"/>
          <p:cNvSpPr txBox="1"/>
          <p:nvPr/>
        </p:nvSpPr>
        <p:spPr>
          <a:xfrm>
            <a:off x="3200400" y="1847088"/>
            <a:ext cx="5394960" cy="475488"/>
          </a:xfrm>
          <a:prstGeom prst="rect">
            <a:avLst/>
          </a:prstGeom>
          <a:noFill/>
          <a:ln/>
        </p:spPr>
        <p:txBody>
          <a:bodyPr wrap="square" lIns="0" tIns="0" rIns="0" bIns="0" rtlCol="0" anchor="ctr"/>
          <a:lstStyle/>
          <a:p>
            <a:pPr indent="0" marL="0">
              <a:buNone/>
            </a:pPr>
            <a:r>
              <a:rPr lang="en-US" sz="1500" dirty="0">
                <a:solidFill>
                  <a:srgbClr val="CFCBE6"/>
                </a:solidFill>
                <a:latin typeface="Calibri" pitchFamily="34" charset="0"/>
                <a:ea typeface="Calibri" pitchFamily="34" charset="-122"/>
                <a:cs typeface="Calibri" pitchFamily="34" charset="-120"/>
              </a:rPr>
              <a:t>On Click</a:t>
            </a:r>
            <a:endParaRPr lang="en-US" sz="1500" dirty="0"/>
          </a:p>
        </p:txBody>
      </p:sp>
      <p:sp>
        <p:nvSpPr>
          <p:cNvPr id="16" name="Shape 13"/>
          <p:cNvSpPr/>
          <p:nvPr/>
        </p:nvSpPr>
        <p:spPr>
          <a:xfrm>
            <a:off x="457200" y="2414016"/>
            <a:ext cx="8229600" cy="475488"/>
          </a:xfrm>
          <a:prstGeom prst="roundRect">
            <a:avLst>
              <a:gd name="adj" fmla="val 23077"/>
            </a:avLst>
          </a:prstGeom>
          <a:solidFill>
            <a:srgbClr val="2E2A45"/>
          </a:solidFill>
          <a:ln/>
        </p:spPr>
      </p:sp>
      <p:sp>
        <p:nvSpPr>
          <p:cNvPr id="17" name="Shape 14"/>
          <p:cNvSpPr/>
          <p:nvPr/>
        </p:nvSpPr>
        <p:spPr>
          <a:xfrm>
            <a:off x="548640" y="2468880"/>
            <a:ext cx="365760" cy="365760"/>
          </a:xfrm>
          <a:prstGeom prst="ellipse">
            <a:avLst/>
          </a:prstGeom>
          <a:solidFill>
            <a:srgbClr val="1ABCFE"/>
          </a:solidFill>
          <a:ln/>
        </p:spPr>
      </p:sp>
      <p:sp>
        <p:nvSpPr>
          <p:cNvPr id="18" name="Text 15"/>
          <p:cNvSpPr txBox="1"/>
          <p:nvPr/>
        </p:nvSpPr>
        <p:spPr>
          <a:xfrm>
            <a:off x="548640" y="24688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9" name="Text 16"/>
          <p:cNvSpPr txBox="1"/>
          <p:nvPr/>
        </p:nvSpPr>
        <p:spPr>
          <a:xfrm>
            <a:off x="1097280" y="2414016"/>
            <a:ext cx="2011680" cy="4754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Résultats</a:t>
            </a:r>
            <a:endParaRPr lang="en-US" sz="1600" dirty="0"/>
          </a:p>
        </p:txBody>
      </p:sp>
      <p:sp>
        <p:nvSpPr>
          <p:cNvPr id="20" name="Text 17"/>
          <p:cNvSpPr txBox="1"/>
          <p:nvPr/>
        </p:nvSpPr>
        <p:spPr>
          <a:xfrm>
            <a:off x="3200400" y="2414016"/>
            <a:ext cx="5394960" cy="475488"/>
          </a:xfrm>
          <a:prstGeom prst="rect">
            <a:avLst/>
          </a:prstGeom>
          <a:noFill/>
          <a:ln/>
        </p:spPr>
        <p:txBody>
          <a:bodyPr wrap="square" lIns="0" tIns="0" rIns="0" bIns="0" rtlCol="0" anchor="ctr"/>
          <a:lstStyle/>
          <a:p>
            <a:pPr indent="0" marL="0">
              <a:buNone/>
            </a:pPr>
            <a:r>
              <a:rPr lang="en-US" sz="1500" dirty="0">
                <a:solidFill>
                  <a:srgbClr val="CFCBE6"/>
                </a:solidFill>
                <a:latin typeface="Calibri" pitchFamily="34" charset="0"/>
                <a:ea typeface="Calibri" pitchFamily="34" charset="-122"/>
                <a:cs typeface="Calibri" pitchFamily="34" charset="-120"/>
              </a:rPr>
              <a:t>Scroll vertical + Overlay (Filtrer)</a:t>
            </a:r>
            <a:endParaRPr lang="en-US" sz="1500" dirty="0"/>
          </a:p>
        </p:txBody>
      </p:sp>
      <p:sp>
        <p:nvSpPr>
          <p:cNvPr id="21" name="Shape 18"/>
          <p:cNvSpPr/>
          <p:nvPr/>
        </p:nvSpPr>
        <p:spPr>
          <a:xfrm>
            <a:off x="457200" y="2980944"/>
            <a:ext cx="8229600" cy="475488"/>
          </a:xfrm>
          <a:prstGeom prst="roundRect">
            <a:avLst>
              <a:gd name="adj" fmla="val 23077"/>
            </a:avLst>
          </a:prstGeom>
          <a:solidFill>
            <a:srgbClr val="2E2A45"/>
          </a:solidFill>
          <a:ln/>
        </p:spPr>
      </p:sp>
      <p:sp>
        <p:nvSpPr>
          <p:cNvPr id="22" name="Shape 19"/>
          <p:cNvSpPr/>
          <p:nvPr/>
        </p:nvSpPr>
        <p:spPr>
          <a:xfrm>
            <a:off x="548640" y="3035808"/>
            <a:ext cx="365760" cy="365760"/>
          </a:xfrm>
          <a:prstGeom prst="ellipse">
            <a:avLst/>
          </a:prstGeom>
          <a:solidFill>
            <a:srgbClr val="0ACF83"/>
          </a:solidFill>
          <a:ln/>
        </p:spPr>
      </p:sp>
      <p:sp>
        <p:nvSpPr>
          <p:cNvPr id="23" name="Text 20"/>
          <p:cNvSpPr txBox="1"/>
          <p:nvPr/>
        </p:nvSpPr>
        <p:spPr>
          <a:xfrm>
            <a:off x="548640" y="30358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4" name="Text 21"/>
          <p:cNvSpPr txBox="1"/>
          <p:nvPr/>
        </p:nvSpPr>
        <p:spPr>
          <a:xfrm>
            <a:off x="1097280" y="2980944"/>
            <a:ext cx="2011680" cy="4754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Détail</a:t>
            </a:r>
            <a:endParaRPr lang="en-US" sz="1600" dirty="0"/>
          </a:p>
        </p:txBody>
      </p:sp>
      <p:sp>
        <p:nvSpPr>
          <p:cNvPr id="25" name="Text 22"/>
          <p:cNvSpPr txBox="1"/>
          <p:nvPr/>
        </p:nvSpPr>
        <p:spPr>
          <a:xfrm>
            <a:off x="3200400" y="2980944"/>
            <a:ext cx="5394960" cy="475488"/>
          </a:xfrm>
          <a:prstGeom prst="rect">
            <a:avLst/>
          </a:prstGeom>
          <a:noFill/>
          <a:ln/>
        </p:spPr>
        <p:txBody>
          <a:bodyPr wrap="square" lIns="0" tIns="0" rIns="0" bIns="0" rtlCol="0" anchor="ctr"/>
          <a:lstStyle/>
          <a:p>
            <a:pPr indent="0" marL="0">
              <a:buNone/>
            </a:pPr>
            <a:r>
              <a:rPr lang="en-US" sz="1500" dirty="0">
                <a:solidFill>
                  <a:srgbClr val="CFCBE6"/>
                </a:solidFill>
                <a:latin typeface="Calibri" pitchFamily="34" charset="0"/>
                <a:ea typeface="Calibri" pitchFamily="34" charset="-122"/>
                <a:cs typeface="Calibri" pitchFamily="34" charset="-120"/>
              </a:rPr>
              <a:t>Transition Slide</a:t>
            </a:r>
            <a:endParaRPr lang="en-US" sz="1500" dirty="0"/>
          </a:p>
        </p:txBody>
      </p:sp>
      <p:sp>
        <p:nvSpPr>
          <p:cNvPr id="26" name="Shape 23"/>
          <p:cNvSpPr/>
          <p:nvPr/>
        </p:nvSpPr>
        <p:spPr>
          <a:xfrm>
            <a:off x="457200" y="3547872"/>
            <a:ext cx="8229600" cy="475488"/>
          </a:xfrm>
          <a:prstGeom prst="roundRect">
            <a:avLst>
              <a:gd name="adj" fmla="val 23077"/>
            </a:avLst>
          </a:prstGeom>
          <a:solidFill>
            <a:srgbClr val="2E2A45"/>
          </a:solidFill>
          <a:ln/>
        </p:spPr>
      </p:sp>
      <p:sp>
        <p:nvSpPr>
          <p:cNvPr id="27" name="Shape 24"/>
          <p:cNvSpPr/>
          <p:nvPr/>
        </p:nvSpPr>
        <p:spPr>
          <a:xfrm>
            <a:off x="548640" y="3602736"/>
            <a:ext cx="365760" cy="365760"/>
          </a:xfrm>
          <a:prstGeom prst="ellipse">
            <a:avLst/>
          </a:prstGeom>
          <a:solidFill>
            <a:srgbClr val="A259FF"/>
          </a:solidFill>
          <a:ln/>
        </p:spPr>
      </p:sp>
      <p:sp>
        <p:nvSpPr>
          <p:cNvPr id="28" name="Text 25"/>
          <p:cNvSpPr txBox="1"/>
          <p:nvPr/>
        </p:nvSpPr>
        <p:spPr>
          <a:xfrm>
            <a:off x="548640" y="36027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9" name="Text 26"/>
          <p:cNvSpPr txBox="1"/>
          <p:nvPr/>
        </p:nvSpPr>
        <p:spPr>
          <a:xfrm>
            <a:off x="1097280" y="3547872"/>
            <a:ext cx="2011680" cy="4754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Réservation</a:t>
            </a:r>
            <a:endParaRPr lang="en-US" sz="1600" dirty="0"/>
          </a:p>
        </p:txBody>
      </p:sp>
      <p:sp>
        <p:nvSpPr>
          <p:cNvPr id="30" name="Text 27"/>
          <p:cNvSpPr txBox="1"/>
          <p:nvPr/>
        </p:nvSpPr>
        <p:spPr>
          <a:xfrm>
            <a:off x="3200400" y="3547872"/>
            <a:ext cx="5394960" cy="475488"/>
          </a:xfrm>
          <a:prstGeom prst="rect">
            <a:avLst/>
          </a:prstGeom>
          <a:noFill/>
          <a:ln/>
        </p:spPr>
        <p:txBody>
          <a:bodyPr wrap="square" lIns="0" tIns="0" rIns="0" bIns="0" rtlCol="0" anchor="ctr"/>
          <a:lstStyle/>
          <a:p>
            <a:pPr indent="0" marL="0">
              <a:buNone/>
            </a:pPr>
            <a:r>
              <a:rPr lang="en-US" sz="1500" dirty="0">
                <a:solidFill>
                  <a:srgbClr val="CFCBE6"/>
                </a:solidFill>
                <a:latin typeface="Calibri" pitchFamily="34" charset="0"/>
                <a:ea typeface="Calibri" pitchFamily="34" charset="-122"/>
                <a:cs typeface="Calibri" pitchFamily="34" charset="-120"/>
              </a:rPr>
              <a:t>While Pressing sur le bouton</a:t>
            </a:r>
            <a:endParaRPr lang="en-US" sz="1500" dirty="0"/>
          </a:p>
        </p:txBody>
      </p:sp>
      <p:sp>
        <p:nvSpPr>
          <p:cNvPr id="31" name="Shape 28"/>
          <p:cNvSpPr/>
          <p:nvPr/>
        </p:nvSpPr>
        <p:spPr>
          <a:xfrm>
            <a:off x="457200" y="4114800"/>
            <a:ext cx="8229600" cy="475488"/>
          </a:xfrm>
          <a:prstGeom prst="roundRect">
            <a:avLst>
              <a:gd name="adj" fmla="val 23077"/>
            </a:avLst>
          </a:prstGeom>
          <a:solidFill>
            <a:srgbClr val="2E2A45"/>
          </a:solidFill>
          <a:ln/>
        </p:spPr>
      </p:sp>
      <p:sp>
        <p:nvSpPr>
          <p:cNvPr id="32" name="Shape 29"/>
          <p:cNvSpPr/>
          <p:nvPr/>
        </p:nvSpPr>
        <p:spPr>
          <a:xfrm>
            <a:off x="548640" y="4169664"/>
            <a:ext cx="365760" cy="365760"/>
          </a:xfrm>
          <a:prstGeom prst="ellipse">
            <a:avLst/>
          </a:prstGeom>
          <a:solidFill>
            <a:srgbClr val="F24E1E"/>
          </a:solidFill>
          <a:ln/>
        </p:spPr>
      </p:sp>
      <p:sp>
        <p:nvSpPr>
          <p:cNvPr id="33" name="Text 30"/>
          <p:cNvSpPr txBox="1"/>
          <p:nvPr/>
        </p:nvSpPr>
        <p:spPr>
          <a:xfrm>
            <a:off x="548640" y="41696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4" name="Text 31"/>
          <p:cNvSpPr txBox="1"/>
          <p:nvPr/>
        </p:nvSpPr>
        <p:spPr>
          <a:xfrm>
            <a:off x="1097280" y="4114800"/>
            <a:ext cx="2011680" cy="4754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Confirmation</a:t>
            </a:r>
            <a:endParaRPr lang="en-US" sz="1600" dirty="0"/>
          </a:p>
        </p:txBody>
      </p:sp>
      <p:sp>
        <p:nvSpPr>
          <p:cNvPr id="35" name="Text 32"/>
          <p:cNvSpPr txBox="1"/>
          <p:nvPr/>
        </p:nvSpPr>
        <p:spPr>
          <a:xfrm>
            <a:off x="3200400" y="4114800"/>
            <a:ext cx="5394960" cy="475488"/>
          </a:xfrm>
          <a:prstGeom prst="rect">
            <a:avLst/>
          </a:prstGeom>
          <a:noFill/>
          <a:ln/>
        </p:spPr>
        <p:txBody>
          <a:bodyPr wrap="square" lIns="0" tIns="0" rIns="0" bIns="0" rtlCol="0" anchor="ctr"/>
          <a:lstStyle/>
          <a:p>
            <a:pPr indent="0" marL="0">
              <a:buNone/>
            </a:pPr>
            <a:r>
              <a:rPr lang="en-US" sz="1500" dirty="0">
                <a:solidFill>
                  <a:srgbClr val="CFCBE6"/>
                </a:solidFill>
                <a:latin typeface="Calibri" pitchFamily="34" charset="0"/>
                <a:ea typeface="Calibri" pitchFamily="34" charset="-122"/>
                <a:cs typeface="Calibri" pitchFamily="34" charset="-120"/>
              </a:rPr>
              <a:t>Smart Animate, puis After Delay → accueil</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1B2E"/>
        </a:solidFill>
      </p:bgPr>
    </p:bg>
    <p:spTree>
      <p:nvGrpSpPr>
        <p:cNvPr id="1" name=""/>
        <p:cNvGrpSpPr/>
        <p:nvPr/>
      </p:nvGrpSpPr>
      <p:grpSpPr>
        <a:xfrm>
          <a:off x="0" y="0"/>
          <a:ext cx="0" cy="0"/>
          <a:chOff x="0" y="0"/>
          <a:chExt cx="0" cy="0"/>
        </a:xfrm>
      </p:grpSpPr>
      <p:sp>
        <p:nvSpPr>
          <p:cNvPr id="2" name="Text 0"/>
          <p:cNvSpPr txBox="1"/>
          <p:nvPr/>
        </p:nvSpPr>
        <p:spPr>
          <a:xfrm>
            <a:off x="457200" y="365760"/>
            <a:ext cx="676656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À vous de jouer !</a:t>
            </a:r>
            <a:endParaRPr lang="en-US" sz="3200" dirty="0"/>
          </a:p>
        </p:txBody>
      </p:sp>
      <p:sp>
        <p:nvSpPr>
          <p:cNvPr id="3" name="Shape 1"/>
          <p:cNvSpPr/>
          <p:nvPr/>
        </p:nvSpPr>
        <p:spPr>
          <a:xfrm>
            <a:off x="7406640" y="228600"/>
            <a:ext cx="1280160" cy="292608"/>
          </a:xfrm>
          <a:prstGeom prst="roundRect">
            <a:avLst>
              <a:gd name="adj" fmla="val 50000"/>
            </a:avLst>
          </a:prstGeom>
          <a:solidFill>
            <a:srgbClr val="A259FF"/>
          </a:solidFill>
          <a:ln/>
        </p:spPr>
      </p:sp>
      <p:sp>
        <p:nvSpPr>
          <p:cNvPr id="4" name="Text 2"/>
          <p:cNvSpPr txBox="1"/>
          <p:nvPr/>
        </p:nvSpPr>
        <p:spPr>
          <a:xfrm>
            <a:off x="7406640" y="2286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 5</a:t>
            </a:r>
            <a:endParaRPr lang="en-US" sz="1100" dirty="0"/>
          </a:p>
        </p:txBody>
      </p:sp>
      <p:sp>
        <p:nvSpPr>
          <p:cNvPr id="6" name="Shape 3"/>
          <p:cNvSpPr/>
          <p:nvPr/>
        </p:nvSpPr>
        <p:spPr>
          <a:xfrm>
            <a:off x="457200" y="1371600"/>
            <a:ext cx="3108960" cy="3108960"/>
          </a:xfrm>
          <a:prstGeom prst="roundRect">
            <a:avLst>
              <a:gd name="adj" fmla="val 3529"/>
            </a:avLst>
          </a:prstGeom>
          <a:solidFill>
            <a:srgbClr val="FFFFFF"/>
          </a:solidFill>
          <a:ln/>
        </p:spPr>
      </p:sp>
      <p:sp>
        <p:nvSpPr>
          <p:cNvPr id="7" name="Text 4"/>
          <p:cNvSpPr txBox="1"/>
          <p:nvPr/>
        </p:nvSpPr>
        <p:spPr>
          <a:xfrm>
            <a:off x="457200" y="1371600"/>
            <a:ext cx="3108960" cy="3108960"/>
          </a:xfrm>
          <a:prstGeom prst="rect">
            <a:avLst/>
          </a:prstGeom>
          <a:noFill/>
          <a:ln/>
        </p:spPr>
        <p:txBody>
          <a:bodyPr wrap="square" lIns="0" tIns="0" rIns="0" bIns="0" rtlCol="0" anchor="ctr"/>
          <a:lstStyle/>
          <a:p>
            <a:pPr algn="ctr" indent="0" marL="0">
              <a:buNone/>
            </a:pPr>
            <a:r>
              <a:rPr lang="en-US" sz="2200" b="1" dirty="0">
                <a:solidFill>
                  <a:srgbClr val="6B6880"/>
                </a:solidFill>
                <a:latin typeface="Calibri" pitchFamily="34" charset="0"/>
                <a:ea typeface="Calibri" pitchFamily="34" charset="-122"/>
                <a:cs typeface="Calibri" pitchFamily="34" charset="-120"/>
              </a:rPr>
              <a:t>QR code</a:t>
            </a:r>
            <a:endParaRPr lang="en-US" sz="2200" dirty="0"/>
          </a:p>
          <a:p>
            <a:pPr algn="ctr" indent="0" marL="0">
              <a:buNone/>
            </a:pPr>
            <a:r>
              <a:rPr lang="en-US" sz="2200" b="1" dirty="0">
                <a:solidFill>
                  <a:srgbClr val="6B6880"/>
                </a:solidFill>
                <a:latin typeface="Calibri" pitchFamily="34" charset="0"/>
                <a:ea typeface="Calibri" pitchFamily="34" charset="-122"/>
                <a:cs typeface="Calibri" pitchFamily="34" charset="-120"/>
              </a:rPr>
              <a:t>à insérer</a:t>
            </a:r>
            <a:endParaRPr lang="en-US" sz="2200" dirty="0"/>
          </a:p>
        </p:txBody>
      </p:sp>
      <p:sp>
        <p:nvSpPr>
          <p:cNvPr id="8" name="Text 5"/>
          <p:cNvSpPr txBox="1"/>
          <p:nvPr/>
        </p:nvSpPr>
        <p:spPr>
          <a:xfrm>
            <a:off x="4023360" y="1463040"/>
            <a:ext cx="4572000" cy="5486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Quiz : 5 questions</a:t>
            </a:r>
            <a:endParaRPr lang="en-US" sz="2800" dirty="0"/>
          </a:p>
        </p:txBody>
      </p:sp>
      <p:sp>
        <p:nvSpPr>
          <p:cNvPr id="9" name="Text 6"/>
          <p:cNvSpPr txBox="1"/>
          <p:nvPr/>
        </p:nvSpPr>
        <p:spPr>
          <a:xfrm>
            <a:off x="4023360" y="2194560"/>
            <a:ext cx="4572000" cy="1554480"/>
          </a:xfrm>
          <a:prstGeom prst="rect">
            <a:avLst/>
          </a:prstGeom>
          <a:noFill/>
          <a:ln/>
        </p:spPr>
        <p:txBody>
          <a:bodyPr wrap="square" lIns="0" tIns="0" rIns="0" bIns="0" rtlCol="0" anchor="t"/>
          <a:lstStyle/>
          <a:p>
            <a:pPr indent="0" marL="0">
              <a:spcAft>
                <a:spcPts val="400"/>
              </a:spcAft>
              <a:buNone/>
            </a:pPr>
            <a:r>
              <a:rPr lang="en-US" sz="1600" dirty="0">
                <a:solidFill>
                  <a:srgbClr val="CFCBE6"/>
                </a:solidFill>
                <a:latin typeface="Calibri" pitchFamily="34" charset="0"/>
                <a:ea typeface="Calibri" pitchFamily="34" charset="-122"/>
                <a:cs typeface="Calibri" pitchFamily="34" charset="-120"/>
              </a:rPr>
              <a:t>1. Statique ou interactif ?</a:t>
            </a:r>
            <a:endParaRPr lang="en-US" sz="1600" dirty="0"/>
          </a:p>
          <a:p>
            <a:pPr indent="0" marL="0">
              <a:spcAft>
                <a:spcPts val="400"/>
              </a:spcAft>
              <a:buNone/>
            </a:pPr>
            <a:r>
              <a:rPr lang="en-US" sz="1600" dirty="0">
                <a:solidFill>
                  <a:srgbClr val="CFCBE6"/>
                </a:solidFill>
                <a:latin typeface="Calibri" pitchFamily="34" charset="0"/>
                <a:ea typeface="Calibri" pitchFamily="34" charset="-122"/>
                <a:cs typeface="Calibri" pitchFamily="34" charset="-120"/>
              </a:rPr>
              <a:t>2. Les déclencheurs</a:t>
            </a:r>
            <a:endParaRPr lang="en-US" sz="1600" dirty="0"/>
          </a:p>
          <a:p>
            <a:pPr indent="0" marL="0">
              <a:spcAft>
                <a:spcPts val="400"/>
              </a:spcAft>
              <a:buNone/>
            </a:pPr>
            <a:r>
              <a:rPr lang="en-US" sz="1600" dirty="0">
                <a:solidFill>
                  <a:srgbClr val="CFCBE6"/>
                </a:solidFill>
                <a:latin typeface="Calibri" pitchFamily="34" charset="0"/>
                <a:ea typeface="Calibri" pitchFamily="34" charset="-122"/>
                <a:cs typeface="Calibri" pitchFamily="34" charset="-120"/>
              </a:rPr>
              <a:t>3. Conditions de Smart Animate</a:t>
            </a:r>
            <a:endParaRPr lang="en-US" sz="1600" dirty="0"/>
          </a:p>
          <a:p>
            <a:pPr indent="0" marL="0">
              <a:spcAft>
                <a:spcPts val="400"/>
              </a:spcAft>
              <a:buNone/>
            </a:pPr>
            <a:r>
              <a:rPr lang="en-US" sz="1600" dirty="0">
                <a:solidFill>
                  <a:srgbClr val="CFCBE6"/>
                </a:solidFill>
                <a:latin typeface="Calibri" pitchFamily="34" charset="0"/>
                <a:ea typeface="Calibri" pitchFamily="34" charset="-122"/>
                <a:cs typeface="Calibri" pitchFamily="34" charset="-120"/>
              </a:rPr>
              <a:t>4. Overlay</a:t>
            </a:r>
            <a:endParaRPr lang="en-US" sz="1600" dirty="0"/>
          </a:p>
          <a:p>
            <a:pPr indent="0" marL="0">
              <a:spcAft>
                <a:spcPts val="400"/>
              </a:spcAft>
              <a:buNone/>
            </a:pPr>
            <a:r>
              <a:rPr lang="en-US" sz="1600" dirty="0">
                <a:solidFill>
                  <a:srgbClr val="CFCBE6"/>
                </a:solidFill>
                <a:latin typeface="Calibri" pitchFamily="34" charset="0"/>
                <a:ea typeface="Calibri" pitchFamily="34" charset="-122"/>
                <a:cs typeface="Calibri" pitchFamily="34" charset="-120"/>
              </a:rPr>
              <a:t>5. Permissions de partage</a:t>
            </a:r>
            <a:endParaRPr lang="en-US" sz="1600" dirty="0"/>
          </a:p>
        </p:txBody>
      </p:sp>
      <p:sp>
        <p:nvSpPr>
          <p:cNvPr id="10" name="Shape 7"/>
          <p:cNvSpPr/>
          <p:nvPr/>
        </p:nvSpPr>
        <p:spPr>
          <a:xfrm>
            <a:off x="4023360" y="3931920"/>
            <a:ext cx="4663440" cy="548640"/>
          </a:xfrm>
          <a:prstGeom prst="roundRect">
            <a:avLst>
              <a:gd name="adj" fmla="val 50000"/>
            </a:avLst>
          </a:prstGeom>
          <a:solidFill>
            <a:srgbClr val="0ACF83"/>
          </a:solidFill>
          <a:ln/>
        </p:spPr>
      </p:sp>
      <p:sp>
        <p:nvSpPr>
          <p:cNvPr id="11" name="Text 8"/>
          <p:cNvSpPr txBox="1"/>
          <p:nvPr/>
        </p:nvSpPr>
        <p:spPr>
          <a:xfrm>
            <a:off x="4023360" y="3931920"/>
            <a:ext cx="4663440" cy="548640"/>
          </a:xfrm>
          <a:prstGeom prst="rect">
            <a:avLst/>
          </a:prstGeom>
          <a:noFill/>
          <a:ln/>
        </p:spPr>
        <p:txBody>
          <a:bodyPr wrap="square" lIns="0" tIns="0" rIns="0" bIns="0" rtlCol="0" anchor="ctr"/>
          <a:lstStyle/>
          <a:p>
            <a:pPr algn="ctr" indent="0" marL="0">
              <a:buNone/>
            </a:pPr>
            <a:r>
              <a:rPr lang="en-US" sz="1600" b="1" dirty="0">
                <a:solidFill>
                  <a:srgbClr val="1E1B2E"/>
                </a:solidFill>
                <a:latin typeface="Calibri" pitchFamily="34" charset="0"/>
                <a:ea typeface="Calibri" pitchFamily="34" charset="-122"/>
                <a:cs typeface="Calibri" pitchFamily="34" charset="-120"/>
              </a:rPr>
              <a:t>Site : [kahoot.it]   ·   Code : [000000]</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1B2E"/>
        </a:solidFill>
      </p:bgPr>
    </p:bg>
    <p:spTree>
      <p:nvGrpSpPr>
        <p:cNvPr id="1" name=""/>
        <p:cNvGrpSpPr/>
        <p:nvPr/>
      </p:nvGrpSpPr>
      <p:grpSpPr>
        <a:xfrm>
          <a:off x="0" y="0"/>
          <a:ext cx="0" cy="0"/>
          <a:chOff x="0" y="0"/>
          <a:chExt cx="0" cy="0"/>
        </a:xfrm>
      </p:grpSpPr>
      <p:sp>
        <p:nvSpPr>
          <p:cNvPr id="2" name="Text 0"/>
          <p:cNvSpPr txBox="1"/>
          <p:nvPr/>
        </p:nvSpPr>
        <p:spPr>
          <a:xfrm>
            <a:off x="457200" y="365760"/>
            <a:ext cx="676656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Ce qu'il faut retenir</a:t>
            </a:r>
            <a:endParaRPr lang="en-US" sz="3200" dirty="0"/>
          </a:p>
        </p:txBody>
      </p:sp>
      <p:sp>
        <p:nvSpPr>
          <p:cNvPr id="3" name="Shape 1"/>
          <p:cNvSpPr/>
          <p:nvPr/>
        </p:nvSpPr>
        <p:spPr>
          <a:xfrm>
            <a:off x="7406640" y="228600"/>
            <a:ext cx="1280160" cy="292608"/>
          </a:xfrm>
          <a:prstGeom prst="roundRect">
            <a:avLst>
              <a:gd name="adj" fmla="val 50000"/>
            </a:avLst>
          </a:prstGeom>
          <a:solidFill>
            <a:srgbClr val="A259FF"/>
          </a:solidFill>
          <a:ln/>
        </p:spPr>
      </p:sp>
      <p:sp>
        <p:nvSpPr>
          <p:cNvPr id="4" name="Text 2"/>
          <p:cNvSpPr txBox="1"/>
          <p:nvPr/>
        </p:nvSpPr>
        <p:spPr>
          <a:xfrm>
            <a:off x="7406640" y="2286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Personne 1</a:t>
            </a:r>
            <a:endParaRPr lang="en-US" sz="1100" dirty="0"/>
          </a:p>
        </p:txBody>
      </p:sp>
      <p:sp>
        <p:nvSpPr>
          <p:cNvPr id="6" name="Shape 3"/>
          <p:cNvSpPr/>
          <p:nvPr/>
        </p:nvSpPr>
        <p:spPr>
          <a:xfrm>
            <a:off x="457200" y="1371600"/>
            <a:ext cx="8229600" cy="731520"/>
          </a:xfrm>
          <a:prstGeom prst="roundRect">
            <a:avLst>
              <a:gd name="adj" fmla="val 18750"/>
            </a:avLst>
          </a:prstGeom>
          <a:solidFill>
            <a:srgbClr val="2E2A45"/>
          </a:solidFill>
          <a:ln/>
        </p:spPr>
      </p:sp>
      <p:sp>
        <p:nvSpPr>
          <p:cNvPr id="7" name="Shape 4"/>
          <p:cNvSpPr/>
          <p:nvPr/>
        </p:nvSpPr>
        <p:spPr>
          <a:xfrm>
            <a:off x="640080" y="1481328"/>
            <a:ext cx="512064" cy="512064"/>
          </a:xfrm>
          <a:prstGeom prst="ellipse">
            <a:avLst/>
          </a:prstGeom>
          <a:solidFill>
            <a:srgbClr val="A259FF"/>
          </a:solidFill>
          <a:ln/>
        </p:spPr>
      </p:sp>
      <p:sp>
        <p:nvSpPr>
          <p:cNvPr id="8" name="Text 5"/>
          <p:cNvSpPr txBox="1"/>
          <p:nvPr/>
        </p:nvSpPr>
        <p:spPr>
          <a:xfrm>
            <a:off x="640080" y="148132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6"/>
          <p:cNvSpPr txBox="1"/>
          <p:nvPr/>
        </p:nvSpPr>
        <p:spPr>
          <a:xfrm>
            <a:off x="1371600" y="1371600"/>
            <a:ext cx="7132320" cy="7315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Tester avant de coder</a:t>
            </a:r>
            <a:endParaRPr lang="en-US" sz="1800" dirty="0"/>
          </a:p>
        </p:txBody>
      </p:sp>
      <p:sp>
        <p:nvSpPr>
          <p:cNvPr id="10" name="Shape 7"/>
          <p:cNvSpPr/>
          <p:nvPr/>
        </p:nvSpPr>
        <p:spPr>
          <a:xfrm>
            <a:off x="457200" y="2240280"/>
            <a:ext cx="8229600" cy="731520"/>
          </a:xfrm>
          <a:prstGeom prst="roundRect">
            <a:avLst>
              <a:gd name="adj" fmla="val 18750"/>
            </a:avLst>
          </a:prstGeom>
          <a:solidFill>
            <a:srgbClr val="2E2A45"/>
          </a:solidFill>
          <a:ln/>
        </p:spPr>
      </p:sp>
      <p:sp>
        <p:nvSpPr>
          <p:cNvPr id="11" name="Shape 8"/>
          <p:cNvSpPr/>
          <p:nvPr/>
        </p:nvSpPr>
        <p:spPr>
          <a:xfrm>
            <a:off x="640080" y="2350008"/>
            <a:ext cx="512064" cy="512064"/>
          </a:xfrm>
          <a:prstGeom prst="ellipse">
            <a:avLst/>
          </a:prstGeom>
          <a:solidFill>
            <a:srgbClr val="F24E1E"/>
          </a:solidFill>
          <a:ln/>
        </p:spPr>
      </p:sp>
      <p:sp>
        <p:nvSpPr>
          <p:cNvPr id="12" name="Text 9"/>
          <p:cNvSpPr txBox="1"/>
          <p:nvPr/>
        </p:nvSpPr>
        <p:spPr>
          <a:xfrm>
            <a:off x="640080" y="235000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0"/>
          <p:cNvSpPr txBox="1"/>
          <p:nvPr/>
        </p:nvSpPr>
        <p:spPr>
          <a:xfrm>
            <a:off x="1371600" y="2240280"/>
            <a:ext cx="7132320" cy="7315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Liens + déclencheurs + transitions = expérience fluide</a:t>
            </a:r>
            <a:endParaRPr lang="en-US" sz="1800" dirty="0"/>
          </a:p>
        </p:txBody>
      </p:sp>
      <p:sp>
        <p:nvSpPr>
          <p:cNvPr id="14" name="Shape 11"/>
          <p:cNvSpPr/>
          <p:nvPr/>
        </p:nvSpPr>
        <p:spPr>
          <a:xfrm>
            <a:off x="457200" y="3108960"/>
            <a:ext cx="8229600" cy="731520"/>
          </a:xfrm>
          <a:prstGeom prst="roundRect">
            <a:avLst>
              <a:gd name="adj" fmla="val 18750"/>
            </a:avLst>
          </a:prstGeom>
          <a:solidFill>
            <a:srgbClr val="2E2A45"/>
          </a:solidFill>
          <a:ln/>
        </p:spPr>
      </p:sp>
      <p:sp>
        <p:nvSpPr>
          <p:cNvPr id="15" name="Shape 12"/>
          <p:cNvSpPr/>
          <p:nvPr/>
        </p:nvSpPr>
        <p:spPr>
          <a:xfrm>
            <a:off x="640080" y="3218688"/>
            <a:ext cx="512064" cy="512064"/>
          </a:xfrm>
          <a:prstGeom prst="ellipse">
            <a:avLst/>
          </a:prstGeom>
          <a:solidFill>
            <a:srgbClr val="1ABCFE"/>
          </a:solidFill>
          <a:ln/>
        </p:spPr>
      </p:sp>
      <p:sp>
        <p:nvSpPr>
          <p:cNvPr id="16" name="Text 13"/>
          <p:cNvSpPr txBox="1"/>
          <p:nvPr/>
        </p:nvSpPr>
        <p:spPr>
          <a:xfrm>
            <a:off x="640080" y="321868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1371600" y="3108960"/>
            <a:ext cx="7132320" cy="7315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Test et partage = retours rapides</a:t>
            </a:r>
            <a:endParaRPr lang="en-US" sz="1800" dirty="0"/>
          </a:p>
        </p:txBody>
      </p:sp>
      <p:sp>
        <p:nvSpPr>
          <p:cNvPr id="18" name="Text 15"/>
          <p:cNvSpPr txBox="1"/>
          <p:nvPr/>
        </p:nvSpPr>
        <p:spPr>
          <a:xfrm>
            <a:off x="457200" y="4069080"/>
            <a:ext cx="8229600" cy="640080"/>
          </a:xfrm>
          <a:prstGeom prst="rect">
            <a:avLst/>
          </a:prstGeom>
          <a:noFill/>
          <a:ln/>
        </p:spPr>
        <p:txBody>
          <a:bodyPr wrap="square" lIns="0" tIns="0" rIns="0" bIns="0" rtlCol="0" anchor="t"/>
          <a:lstStyle/>
          <a:p>
            <a:pPr indent="0" marL="0">
              <a:buNone/>
            </a:pPr>
            <a:r>
              <a:rPr lang="en-US" sz="3200" b="1" dirty="0">
                <a:solidFill>
                  <a:srgbClr val="0ACF83"/>
                </a:solidFill>
                <a:latin typeface="Cambria" pitchFamily="34" charset="0"/>
                <a:ea typeface="Cambria" pitchFamily="34" charset="-122"/>
                <a:cs typeface="Cambria" pitchFamily="34" charset="-120"/>
              </a:rPr>
              <a:t>Merci ! Des questions ?</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Interactions et prototypage avec Figma</dc:title>
  <dc:subject>PptxGenJS Presentation</dc:subject>
  <dc:creator>PptxGenJS</dc:creator>
  <cp:lastModifiedBy>PptxGenJS</cp:lastModifiedBy>
  <cp:revision>1</cp:revision>
  <dcterms:created xsi:type="dcterms:W3CDTF">2026-09-30T16:16:43Z</dcterms:created>
  <dcterms:modified xsi:type="dcterms:W3CDTF">2026-09-30T16:16:43Z</dcterms:modified>
</cp:coreProperties>
</file>